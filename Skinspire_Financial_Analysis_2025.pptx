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Jan-25</c:v>
                </c:pt>
                <c:pt idx="1">
                  <c:v>Feb-25</c:v>
                </c:pt>
                <c:pt idx="2">
                  <c:v>Mar-25</c:v>
                </c:pt>
                <c:pt idx="3">
                  <c:v>Apr-25</c:v>
                </c:pt>
                <c:pt idx="4">
                  <c:v>May-25</c:v>
                </c:pt>
                <c:pt idx="5">
                  <c:v>Jun-25</c:v>
                </c:pt>
                <c:pt idx="6">
                  <c:v>Jul-25</c:v>
                </c:pt>
                <c:pt idx="7">
                  <c:v>Aug-25</c:v>
                </c:pt>
                <c:pt idx="8">
                  <c:v>Sep-25</c:v>
                </c:pt>
                <c:pt idx="9">
                  <c:v>Oct-25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11.10615</c:v>
                </c:pt>
                <c:pt idx="1">
                  <c:v>6.2978</c:v>
                </c:pt>
                <c:pt idx="2">
                  <c:v>9.62581</c:v>
                </c:pt>
                <c:pt idx="3">
                  <c:v>7.83448</c:v>
                </c:pt>
                <c:pt idx="4">
                  <c:v>8.55204</c:v>
                </c:pt>
                <c:pt idx="5">
                  <c:v>9.65456</c:v>
                </c:pt>
                <c:pt idx="6">
                  <c:v>13.47544</c:v>
                </c:pt>
                <c:pt idx="7">
                  <c:v>12.43094</c:v>
                </c:pt>
                <c:pt idx="8">
                  <c:v>7.96105</c:v>
                </c:pt>
                <c:pt idx="9">
                  <c:v>7.01445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(₹ Lakhs)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Jan-25</c:v>
                </c:pt>
                <c:pt idx="1">
                  <c:v>Feb-25</c:v>
                </c:pt>
                <c:pt idx="2">
                  <c:v>Mar-25</c:v>
                </c:pt>
                <c:pt idx="3">
                  <c:v>Apr-25</c:v>
                </c:pt>
                <c:pt idx="4">
                  <c:v>May-25</c:v>
                </c:pt>
                <c:pt idx="5">
                  <c:v>Jun-25</c:v>
                </c:pt>
                <c:pt idx="6">
                  <c:v>Jul-25</c:v>
                </c:pt>
                <c:pt idx="7">
                  <c:v>Aug-25</c:v>
                </c:pt>
                <c:pt idx="8">
                  <c:v>Sep-25</c:v>
                </c:pt>
                <c:pt idx="9">
                  <c:v>Oct-25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3.85901</c:v>
                </c:pt>
                <c:pt idx="1">
                  <c:v>-2.01319</c:v>
                </c:pt>
                <c:pt idx="2">
                  <c:v>2.53142</c:v>
                </c:pt>
                <c:pt idx="3">
                  <c:v>2.70615</c:v>
                </c:pt>
                <c:pt idx="4">
                  <c:v>-0.29086</c:v>
                </c:pt>
                <c:pt idx="5">
                  <c:v>1.95833</c:v>
                </c:pt>
                <c:pt idx="6">
                  <c:v>9.08366</c:v>
                </c:pt>
                <c:pt idx="7">
                  <c:v>6.04753</c:v>
                </c:pt>
                <c:pt idx="8">
                  <c:v>-0.40448</c:v>
                </c:pt>
                <c:pt idx="9">
                  <c:v>0.84466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66CC"/>
                </a:solidFill>
              </a:defRPr>
            </a:pPr>
            <a:r>
              <a:t>SKINSPIRE CLINIC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Financial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Period: January - December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Prepared for: CEO &amp; Management Team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Skinspire Clinic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 b="1"/>
            </a:pPr>
            <a:r>
              <a:t>Clinic Overview</a:t>
            </a:r>
          </a:p>
          <a:p>
            <a:pPr>
              <a:spcAft>
                <a:spcPts val="600"/>
              </a:spcAft>
              <a:defRPr sz="1400"/>
            </a:pPr>
            <a:r>
              <a:t>Modern healthcare facility specializing in dermatology and aesthetic medicine</a:t>
            </a:r>
          </a:p>
          <a:p>
            <a:pPr>
              <a:spcAft>
                <a:spcPts val="600"/>
              </a:spcAft>
              <a:defRPr sz="1400"/>
            </a:pPr>
            <a:r>
              <a:t>Services: Skin care, aesthetic treatments, dermatology consultations</a:t>
            </a:r>
          </a:p>
          <a:p>
            <a:pPr>
              <a:spcAft>
                <a:spcPts val="600"/>
              </a:spcAft>
              <a:defRPr sz="1400"/>
            </a:pPr>
            <a:r>
              <a:t>Operations: Multiple revenue streams (consultations, procedures, pharmacy)</a:t>
            </a:r>
          </a:p>
          <a:p>
            <a:pPr>
              <a:spcAft>
                <a:spcPts val="600"/>
              </a:spcAft>
              <a:defRPr sz="1400"/>
            </a:pPr>
            <a:r>
              <a:t>Financial Year: January to December</a:t>
            </a:r>
          </a:p>
          <a:p>
            <a:pPr>
              <a:spcAft>
                <a:spcPts val="600"/>
              </a:spcAft>
              <a:defRPr sz="1400"/>
            </a:pPr>
            <a:r>
              <a:t>Average Medicine Inventory: ₹10,00,000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Infrastructure:</a:t>
            </a:r>
          </a:p>
          <a:p>
            <a:pPr lvl="1">
              <a:spcAft>
                <a:spcPts val="600"/>
              </a:spcAft>
              <a:defRPr sz="1400"/>
            </a:pPr>
            <a:r>
              <a:t>  • Modern healthcare management system</a:t>
            </a:r>
          </a:p>
          <a:p>
            <a:pPr lvl="1">
              <a:spcAft>
                <a:spcPts val="600"/>
              </a:spcAft>
              <a:defRPr sz="1400"/>
            </a:pPr>
            <a:r>
              <a:t>  • Digital payment capabilities</a:t>
            </a:r>
          </a:p>
          <a:p>
            <a:pPr lvl="1">
              <a:spcAft>
                <a:spcPts val="600"/>
              </a:spcAft>
              <a:defRPr sz="1400"/>
            </a:pPr>
            <a:r>
              <a:t>  • Integrated pharmacy operations</a:t>
            </a:r>
          </a:p>
          <a:p>
            <a:pPr lvl="1">
              <a:spcAft>
                <a:spcPts val="600"/>
              </a:spcAft>
              <a:defRPr sz="1400"/>
            </a:pPr>
            <a:r>
              <a:t>  • Patient-centric care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000" b="1"/>
            </a:pPr>
            <a:r>
              <a:t>10-Month Performance Overview (Jan-Oct 2025)</a:t>
            </a:r>
          </a:p>
          <a:p>
            <a:pPr>
              <a:spcAft>
                <a:spcPts val="400"/>
              </a:spcAft>
              <a:defRPr sz="1600" b="1">
                <a:latin typeface="Courier New"/>
              </a:defRPr>
            </a:pPr>
            <a:r>
              <a:t>TOTAL REVENUE                 ₹9,395,272     100.0%</a:t>
            </a:r>
          </a:p>
          <a:p>
            <a:pPr>
              <a:spcAft>
                <a:spcPts val="400"/>
              </a:spcAft>
              <a:defRPr sz="1400" b="0">
                <a:latin typeface="Courier New"/>
              </a:defRPr>
            </a:pPr>
            <a:r>
              <a:t>Operating Expenses            ₹4,683,721      49.9%</a:t>
            </a:r>
          </a:p>
          <a:p>
            <a:pPr>
              <a:spcAft>
                <a:spcPts val="400"/>
              </a:spcAft>
              <a:defRPr sz="1600" b="1">
                <a:latin typeface="Courier New"/>
              </a:defRPr>
            </a:pPr>
            <a:r>
              <a:t>GROSS PROFIT                  ₹4,711,551      50.1%</a:t>
            </a:r>
          </a:p>
          <a:p>
            <a:pPr>
              <a:spcAft>
                <a:spcPts val="400"/>
              </a:spcAft>
              <a:defRPr sz="1600" b="0">
                <a:latin typeface="Courier New"/>
              </a:defRPr>
            </a:pPr>
          </a:p>
          <a:p>
            <a:pPr>
              <a:spcAft>
                <a:spcPts val="400"/>
              </a:spcAft>
              <a:defRPr sz="1400" b="0">
                <a:latin typeface="Courier New"/>
              </a:defRPr>
            </a:pPr>
            <a:r>
              <a:t>Other Expenses:</a:t>
            </a:r>
          </a:p>
          <a:p>
            <a:pPr>
              <a:spcAft>
                <a:spcPts val="400"/>
              </a:spcAft>
              <a:defRPr sz="1400" b="0">
                <a:latin typeface="Courier New"/>
              </a:defRPr>
            </a:pPr>
            <a:r>
              <a:t>  - Capital Expenditure       ₹1,317,756       14.0%</a:t>
            </a:r>
          </a:p>
          <a:p>
            <a:pPr>
              <a:spcAft>
                <a:spcPts val="400"/>
              </a:spcAft>
              <a:defRPr sz="1400" b="0">
                <a:latin typeface="Courier New"/>
              </a:defRPr>
            </a:pPr>
            <a:r>
              <a:t>  - Personal Expenses         ₹961,574       10.2%</a:t>
            </a:r>
          </a:p>
          <a:p>
            <a:pPr>
              <a:spcAft>
                <a:spcPts val="400"/>
              </a:spcAft>
              <a:defRPr sz="1600" b="0">
                <a:latin typeface="Courier New"/>
              </a:defRPr>
            </a:pPr>
          </a:p>
          <a:p>
            <a:pPr>
              <a:spcAft>
                <a:spcPts val="400"/>
              </a:spcAft>
              <a:defRPr sz="1600" b="1">
                <a:latin typeface="Courier New"/>
              </a:defRPr>
            </a:pPr>
            <a:r>
              <a:t>NET PROFIT                    ₹2,432,223      25.9%</a:t>
            </a:r>
          </a:p>
          <a:p>
            <a:br/>
            <a:pPr algn="ctr">
              <a:defRPr sz="1400" b="1"/>
            </a:pPr>
            <a:r>
              <a:t>Performance Rating: B+ (Strong Foundation, Needs Stabilization)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Analysis - Total ₹93.95 Lakhs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4066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371600"/>
              </a:tblGrid>
              <a:tr h="4191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Bank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Cash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Total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Growth %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842,207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268,408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1,110,615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510,172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119,608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629,780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-43.3%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785,014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177,567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962,581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+52.8%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630,454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152,994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783,448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-18.6%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May-25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709,660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145,544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855,204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+9.2%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858,367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107,089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965,456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+12.9%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908,188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439,356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1,347,544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+39.6%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908,174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334,920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1,243,094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-7.8%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496,069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300,036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796,105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-36.0%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499,778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201,667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701,445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-11.9%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7,148,083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2,247,189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9,395,272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Expense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4980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1828800"/>
                <a:gridCol w="1371600"/>
                <a:gridCol w="1371600"/>
              </a:tblGrid>
              <a:tr h="4191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Revenue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OpEx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OpEx %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1,110,615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546,768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Good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Feb-25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629,780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440,076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🔴 High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962,581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533,648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🟡 Fair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783,448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326,278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Excellent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May-25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855,204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455,958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Good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965,456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502,990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Good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1,347,544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270,102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Excellent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1,243,094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489,903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Excellent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796,105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693,200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🔴 High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701,445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424,798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🟡 Fair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939,527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468,372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49.9%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Target: &lt;45%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Profit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046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645920"/>
                <a:gridCol w="1097280"/>
                <a:gridCol w="1645920"/>
                <a:gridCol w="1097280"/>
              </a:tblGrid>
              <a:tr h="4191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Revenue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Gross Profit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GP%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Net Profit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NP%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Jan-25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1,110,615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563,847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385,901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34.7%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Feb-25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629,780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189,704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</a:defRPr>
                      </a:pPr>
                      <a:r>
                        <a:t>-201,319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</a:defRPr>
                      </a:pPr>
                      <a:r>
                        <a:t>-32.0%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962,581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428,933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253,142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26.3%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Apr-25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783,448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457,170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270,615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34.5%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May-25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855,204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399,246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</a:defRPr>
                      </a:pPr>
                      <a:r>
                        <a:t>-29,086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</a:defRPr>
                      </a:pPr>
                      <a:r>
                        <a:t>-3.4%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Jun-25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965,456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462,466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195,833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20.3%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Jul-25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1,347,544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1,077,442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908,366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67.4%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1,243,094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753,191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604,753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48.6%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796,105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102,905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</a:defRPr>
                      </a:pPr>
                      <a:r>
                        <a:t>-40,448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0000"/>
                          </a:solidFill>
                        </a:defRPr>
                      </a:pPr>
                      <a:r>
                        <a:t>-5.1%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701,445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276,647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84,466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12.0%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9,395,272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4,711,551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2,432,223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25.9%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Net Profit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Expenditure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 b="1"/>
            </a:pPr>
            <a:r>
              <a:t>Total CapEx (10 months): ₹1,317,756</a:t>
            </a:r>
          </a:p>
          <a:p>
            <a:pPr>
              <a:spcAft>
                <a:spcPts val="800"/>
              </a:spcAft>
              <a:defRPr sz="1600"/>
            </a:pPr>
            <a:r>
              <a:t>Major Investment Periods:</a:t>
            </a:r>
          </a:p>
          <a:p>
            <a:pPr lvl="1">
              <a:spcAft>
                <a:spcPts val="800"/>
              </a:spcAft>
              <a:defRPr sz="1600"/>
            </a:pPr>
            <a:r>
              <a:t>  • Feb-Apr: Equipment purchase (₹6.7L)</a:t>
            </a:r>
          </a:p>
          <a:p>
            <a:pPr lvl="1">
              <a:spcAft>
                <a:spcPts val="800"/>
              </a:spcAft>
              <a:defRPr sz="1600"/>
            </a:pPr>
            <a:r>
              <a:t>  • May: Peak investment (₹3.5L)</a:t>
            </a:r>
          </a:p>
          <a:p>
            <a:pPr lvl="1">
              <a:spcAft>
                <a:spcPts val="800"/>
              </a:spcAft>
              <a:defRPr sz="1600"/>
            </a:pPr>
            <a:r>
              <a:t>  • Jul-Oct: Minimal CapEx (₹2.8L)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Impact on Profitability:</a:t>
            </a:r>
          </a:p>
          <a:p>
            <a:pPr lvl="1">
              <a:spcAft>
                <a:spcPts val="800"/>
              </a:spcAft>
              <a:defRPr sz="1600"/>
            </a:pPr>
            <a:r>
              <a:t>  • CapEx consumed 27.97% of gross profit</a:t>
            </a:r>
          </a:p>
          <a:p>
            <a:pPr lvl="1">
              <a:spcAft>
                <a:spcPts val="800"/>
              </a:spcAft>
              <a:defRPr sz="1600"/>
            </a:pPr>
            <a:r>
              <a:t>  • High CapEx months correlated with lower net profit</a:t>
            </a:r>
          </a:p>
          <a:p>
            <a:pPr lvl="1">
              <a:spcAft>
                <a:spcPts val="800"/>
              </a:spcAft>
              <a:defRPr sz="1600"/>
            </a:pPr>
            <a:r>
              <a:t>  • No additional CapEx assumed for Nov-Dec projections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 Analysis - Bank vs Cash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 b="1">
                <a:latin typeface="Calibri"/>
              </a:defRPr>
            </a:pPr>
            <a:r>
              <a:t>10-Month Cash Flow Summary:</a:t>
            </a:r>
          </a:p>
          <a:p>
            <a:pPr>
              <a:spcAft>
                <a:spcPts val="600"/>
              </a:spcAft>
              <a:defRPr sz="1400" b="0">
                <a:latin typeface="Calibri"/>
              </a:defRPr>
            </a:pPr>
          </a:p>
          <a:p>
            <a:pPr>
              <a:spcAft>
                <a:spcPts val="600"/>
              </a:spcAft>
              <a:defRPr sz="1400" b="0">
                <a:latin typeface="Courier New"/>
              </a:defRPr>
            </a:pPr>
            <a:r>
              <a:t>Bank Collections:        ₹7,148,083  (76.1%)</a:t>
            </a:r>
          </a:p>
          <a:p>
            <a:pPr>
              <a:spcAft>
                <a:spcPts val="600"/>
              </a:spcAft>
              <a:defRPr sz="1400" b="0">
                <a:latin typeface="Courier New"/>
              </a:defRPr>
            </a:pPr>
            <a:r>
              <a:t>Cash Collections:        ₹2,247,189  (23.9%)</a:t>
            </a:r>
          </a:p>
          <a:p>
            <a:pPr>
              <a:spcAft>
                <a:spcPts val="600"/>
              </a:spcAft>
              <a:defRPr sz="1400" b="0">
                <a:latin typeface="Courier New"/>
              </a:defRPr>
            </a:pPr>
            <a:r>
              <a:t>Total Collections:       ₹9,395,272</a:t>
            </a:r>
          </a:p>
          <a:p>
            <a:pPr>
              <a:spcAft>
                <a:spcPts val="600"/>
              </a:spcAft>
              <a:defRPr sz="1400" b="0">
                <a:latin typeface="Calibri"/>
              </a:defRPr>
            </a:pPr>
          </a:p>
          <a:p>
            <a:pPr>
              <a:spcAft>
                <a:spcPts val="600"/>
              </a:spcAft>
              <a:defRPr sz="1600" b="1">
                <a:latin typeface="Calibri"/>
              </a:defRPr>
            </a:pPr>
            <a:r>
              <a:t>Key Observations:</a:t>
            </a:r>
          </a:p>
          <a:p>
            <a:pPr lvl="1">
              <a:spcAft>
                <a:spcPts val="600"/>
              </a:spcAft>
              <a:defRPr sz="1400" b="0">
                <a:latin typeface="Calibri"/>
              </a:defRPr>
            </a:pPr>
            <a:r>
              <a:t>  ✅ Cash flow positive in 7/10 months (70% resilience)</a:t>
            </a:r>
          </a:p>
          <a:p>
            <a:pPr lvl="1">
              <a:spcAft>
                <a:spcPts val="600"/>
              </a:spcAft>
              <a:defRPr sz="1400" b="0">
                <a:latin typeface="Calibri"/>
              </a:defRPr>
            </a:pPr>
            <a:r>
              <a:t>  🔴 Bank flow negative in 4/10 months (volatility concern)</a:t>
            </a:r>
          </a:p>
          <a:p>
            <a:pPr lvl="1">
              <a:spcAft>
                <a:spcPts val="600"/>
              </a:spcAft>
              <a:defRPr sz="1400" b="0">
                <a:latin typeface="Calibri"/>
              </a:defRPr>
            </a:pPr>
            <a:r>
              <a:t>  💪 Cash collections consistent and reliable</a:t>
            </a:r>
          </a:p>
          <a:p>
            <a:pPr>
              <a:spcAft>
                <a:spcPts val="600"/>
              </a:spcAft>
              <a:defRPr sz="1400" b="0">
                <a:latin typeface="Calibri"/>
              </a:defRPr>
            </a:pPr>
          </a:p>
          <a:p>
            <a:pPr>
              <a:spcAft>
                <a:spcPts val="600"/>
              </a:spcAft>
              <a:defRPr sz="1600" b="1">
                <a:latin typeface="Calibri"/>
              </a:defRPr>
            </a:pPr>
            <a:r>
              <a:t>Recommendations:</a:t>
            </a:r>
          </a:p>
          <a:p>
            <a:pPr lvl="1">
              <a:spcAft>
                <a:spcPts val="600"/>
              </a:spcAft>
              <a:defRPr sz="1400" b="0">
                <a:latin typeface="Courier New"/>
              </a:defRPr>
            </a:pPr>
            <a:r>
              <a:t>  • Maintain ₹5L minimum bank balance</a:t>
            </a:r>
          </a:p>
          <a:p>
            <a:pPr lvl="1">
              <a:spcAft>
                <a:spcPts val="600"/>
              </a:spcAft>
              <a:defRPr sz="1400" b="0">
                <a:latin typeface="Calibri"/>
              </a:defRPr>
            </a:pPr>
            <a:r>
              <a:t>  • Implement 13-week rolling cash forecast</a:t>
            </a:r>
          </a:p>
          <a:p>
            <a:pPr lvl="1">
              <a:spcAft>
                <a:spcPts val="600"/>
              </a:spcAft>
              <a:defRPr sz="1400" b="0">
                <a:latin typeface="Calibri"/>
              </a:defRPr>
            </a:pPr>
            <a:r>
              <a:t>  • Improve collection efficiency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Nov-Dec 2025 Projections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Nov-25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Dec-25 (₹)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Total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850,000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900,000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Operating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425,000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450,000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Personal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Loan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Net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321,000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341,000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Net Margin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Year 2025 Projected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 b="1">
                <a:latin typeface="Calibri"/>
              </a:defRPr>
            </a:pPr>
            <a:r>
              <a:t>12-Month Projected Performance (Jan-Dec 2025)</a:t>
            </a:r>
          </a:p>
          <a:p>
            <a:pPr>
              <a:spcAft>
                <a:spcPts val="800"/>
              </a:spcAft>
              <a:defRPr sz="1800" b="1">
                <a:latin typeface="Calibri"/>
              </a:defRPr>
            </a:pPr>
          </a:p>
          <a:p>
            <a:pPr>
              <a:spcAft>
                <a:spcPts val="800"/>
              </a:spcAft>
              <a:defRPr sz="1800" b="1">
                <a:latin typeface="Calibri"/>
              </a:defRPr>
            </a:pPr>
            <a:r>
              <a:t>REVENUE</a:t>
            </a:r>
          </a:p>
          <a:p>
            <a:pPr>
              <a:spcAft>
                <a:spcPts val="800"/>
              </a:spcAft>
              <a:defRPr sz="1600" b="0">
                <a:latin typeface="Courier New"/>
              </a:defRPr>
            </a:pPr>
            <a:r>
              <a:t>  Total Revenue                : ₹11,145,272  (₹1.11 Cr)</a:t>
            </a:r>
          </a:p>
          <a:p>
            <a:pPr>
              <a:spcAft>
                <a:spcPts val="800"/>
              </a:spcAft>
              <a:defRPr sz="1600" b="0">
                <a:latin typeface="Courier New"/>
              </a:defRPr>
            </a:pPr>
            <a:r>
              <a:t>  Monthly Average              : ₹928,773</a:t>
            </a:r>
          </a:p>
          <a:p>
            <a:pPr>
              <a:spcAft>
                <a:spcPts val="800"/>
              </a:spcAft>
              <a:defRPr sz="1800" b="1">
                <a:latin typeface="Calibri"/>
              </a:defRPr>
            </a:pPr>
          </a:p>
          <a:p>
            <a:pPr>
              <a:spcAft>
                <a:spcPts val="800"/>
              </a:spcAft>
              <a:defRPr sz="1800" b="1">
                <a:latin typeface="Calibri"/>
              </a:defRPr>
            </a:pPr>
            <a:r>
              <a:t>PROFITABILITY</a:t>
            </a:r>
          </a:p>
          <a:p>
            <a:pPr>
              <a:spcAft>
                <a:spcPts val="800"/>
              </a:spcAft>
              <a:defRPr sz="1600" b="0">
                <a:latin typeface="Courier New"/>
              </a:defRPr>
            </a:pPr>
            <a:r>
              <a:t>  Gross Profit                 : ₹5,586,551  (50.1%)</a:t>
            </a:r>
          </a:p>
          <a:p>
            <a:pPr>
              <a:spcAft>
                <a:spcPts val="800"/>
              </a:spcAft>
              <a:defRPr sz="1600" b="0">
                <a:latin typeface="Courier New"/>
              </a:defRPr>
            </a:pPr>
            <a:r>
              <a:t>  Operating Expenses           : ₹5,558,721  (49.9%)</a:t>
            </a:r>
          </a:p>
          <a:p>
            <a:pPr>
              <a:spcAft>
                <a:spcPts val="800"/>
              </a:spcAft>
              <a:defRPr sz="1600" b="0">
                <a:latin typeface="Courier New"/>
              </a:defRPr>
            </a:pPr>
            <a:r>
              <a:t>  Net Profit                   : ₹3,094,223  (27.8%)</a:t>
            </a:r>
          </a:p>
          <a:p>
            <a:pPr>
              <a:spcAft>
                <a:spcPts val="800"/>
              </a:spcAft>
              <a:defRPr sz="1800" b="1">
                <a:latin typeface="Calibri"/>
              </a:defRPr>
            </a:pPr>
          </a:p>
          <a:p>
            <a:pPr>
              <a:spcAft>
                <a:spcPts val="800"/>
              </a:spcAft>
              <a:defRPr sz="1800" b="1">
                <a:latin typeface="Calibri"/>
              </a:defRPr>
            </a:pPr>
            <a:r>
              <a:t>STATUS</a:t>
            </a:r>
          </a:p>
          <a:p>
            <a:pPr>
              <a:spcAft>
                <a:spcPts val="800"/>
              </a:spcAft>
              <a:defRPr sz="1600" b="0">
                <a:latin typeface="Calibri"/>
              </a:defRPr>
            </a:pPr>
            <a:r>
              <a:t>  Profitable Months            : 9/12 (75%)</a:t>
            </a:r>
          </a:p>
          <a:p>
            <a:pPr>
              <a:spcAft>
                <a:spcPts val="800"/>
              </a:spcAft>
              <a:defRPr sz="1600" b="0">
                <a:latin typeface="Calibri"/>
              </a:defRPr>
            </a:pPr>
            <a:r>
              <a:t>  Loss-Making Months           : 3/12 (25%)</a:t>
            </a:r>
          </a:p>
          <a:p>
            <a:pPr>
              <a:spcAft>
                <a:spcPts val="800"/>
              </a:spcAft>
              <a:defRPr sz="1600" b="0">
                <a:latin typeface="Calibri"/>
              </a:defRPr>
            </a:pPr>
            <a:r>
              <a:t>  Overall Performance          : Strong (B+ Rating)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&amp; Loss Statement (Jan-Dec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latin typeface="Courier New"/>
              </a:defRPr>
            </a:pPr>
            <a:r>
              <a:t>INCOME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  Total Revenue                      ₹  11,145,272   100.0%</a:t>
            </a:r>
          </a:p>
          <a:p>
            <a:pPr>
              <a:spcAft>
                <a:spcPts val="400"/>
              </a:spcAft>
              <a:defRPr sz="1400" b="0">
                <a:latin typeface="Courier New"/>
              </a:defRPr>
            </a:pPr>
          </a:p>
          <a:p>
            <a:pPr>
              <a:spcAft>
                <a:spcPts val="400"/>
              </a:spcAft>
              <a:defRPr sz="1400" b="1">
                <a:latin typeface="Courier New"/>
              </a:defRPr>
            </a:pPr>
            <a:r>
              <a:t>COST OF OPERATIONS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  Clinic Operating Expenses          ₹   5,558,721     49.9%</a:t>
            </a:r>
          </a:p>
          <a:p>
            <a:pPr>
              <a:spcAft>
                <a:spcPts val="400"/>
              </a:spcAft>
              <a:defRPr sz="1400" b="0">
                <a:latin typeface="Courier New"/>
              </a:defRPr>
            </a:pPr>
          </a:p>
          <a:p>
            <a:pPr>
              <a:spcAft>
                <a:spcPts val="400"/>
              </a:spcAft>
              <a:defRPr sz="1400" b="1">
                <a:latin typeface="Courier New"/>
              </a:defRPr>
            </a:pPr>
            <a:r>
              <a:t>GROSS PROFIT                         ₹   5,586,551     50.1%</a:t>
            </a:r>
          </a:p>
          <a:p>
            <a:pPr>
              <a:spcAft>
                <a:spcPts val="400"/>
              </a:spcAft>
              <a:defRPr sz="1400" b="0">
                <a:latin typeface="Courier New"/>
              </a:defRPr>
            </a:pPr>
          </a:p>
          <a:p>
            <a:pPr>
              <a:spcAft>
                <a:spcPts val="400"/>
              </a:spcAft>
              <a:defRPr sz="1400" b="1">
                <a:latin typeface="Courier New"/>
              </a:defRPr>
            </a:pPr>
            <a:r>
              <a:t>OTHER EXPENSES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  Capital Expenditure                ₹   1,317,756     11.8%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  Personal Expenses                  ₹   1,136,574     10.2%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  Loan Interest                      ₹     276,365      2.5%</a:t>
            </a:r>
          </a:p>
          <a:p>
            <a:pPr>
              <a:spcAft>
                <a:spcPts val="400"/>
              </a:spcAft>
              <a:defRPr sz="1400" b="0">
                <a:latin typeface="Courier New"/>
              </a:defRPr>
            </a:pPr>
          </a:p>
          <a:p>
            <a:pPr>
              <a:spcAft>
                <a:spcPts val="400"/>
              </a:spcAft>
              <a:defRPr sz="1400" b="1">
                <a:latin typeface="Courier New"/>
              </a:defRPr>
            </a:pPr>
            <a:r>
              <a:t>NET PROFIT                           ₹   3,094,223     27.8%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 Sheet (As of October 31,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latin typeface="Courier New"/>
              </a:defRPr>
            </a:pPr>
            <a:r>
              <a:t>ASSETS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Current Assets: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  Cash in Hand                       ₹   2,247,189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  Bank Balance                       ₹           0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  Medicine Inventory                 ₹   1,000,000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  Accounts Receivable (Est.)         ₹     500,000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Fixed Assets (Net)                   ₹   7,317,756</a:t>
            </a:r>
          </a:p>
          <a:p>
            <a:pPr>
              <a:spcAft>
                <a:spcPts val="400"/>
              </a:spcAft>
              <a:defRPr sz="1400" b="1">
                <a:latin typeface="Courier New"/>
              </a:defRPr>
            </a:pPr>
            <a:r>
              <a:t>TOTAL ASSETS                         ₹  11,064,945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</a:p>
          <a:p>
            <a:pPr>
              <a:spcAft>
                <a:spcPts val="400"/>
              </a:spcAft>
              <a:defRPr sz="1400" b="1">
                <a:latin typeface="Courier New"/>
              </a:defRPr>
            </a:pPr>
            <a:r>
              <a:t>LIABILITIES &amp; EQUITY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Total Liabilities                    ₹   3,300,000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Owner's Equity                       ₹   7,764,945</a:t>
            </a:r>
          </a:p>
          <a:p>
            <a:pPr>
              <a:spcAft>
                <a:spcPts val="400"/>
              </a:spcAft>
              <a:defRPr sz="1400" b="1">
                <a:latin typeface="Courier New"/>
              </a:defRPr>
            </a:pPr>
            <a:r>
              <a:t>TOTAL LIABILITIES &amp; EQUITY           ₹  11,064,945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</a:p>
          <a:p>
            <a:pPr>
              <a:spcAft>
                <a:spcPts val="400"/>
              </a:spcAft>
              <a:defRPr sz="1400" b="1">
                <a:latin typeface="Courier New"/>
              </a:defRPr>
            </a:pPr>
            <a:r>
              <a:t>KEY RATIOS</a:t>
            </a:r>
          </a:p>
          <a:p>
            <a:pPr>
              <a:spcAft>
                <a:spcPts val="400"/>
              </a:spcAft>
              <a:defRPr sz="1200" b="0">
                <a:latin typeface="Courier New"/>
              </a:defRPr>
            </a:pPr>
            <a:r>
              <a:t>  Current Ratio: 2.62:1   |   Debt-to-Equity: 0.42:1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📊 REVENUE METRICS</a:t>
            </a:r>
          </a:p>
          <a:p>
            <a:pPr>
              <a:spcAft>
                <a:spcPts val="600"/>
              </a:spcAft>
              <a:defRPr sz="1400" b="0"/>
            </a:pPr>
            <a:r>
              <a:t>  • Average Monthly Revenue: ₹939,527</a:t>
            </a:r>
          </a:p>
          <a:p>
            <a:pPr>
              <a:spcAft>
                <a:spcPts val="600"/>
              </a:spcAft>
              <a:defRPr sz="1400" b="0"/>
            </a:pPr>
            <a:r>
              <a:t>  • Revenue Volatility: High (114% variance)</a:t>
            </a:r>
          </a:p>
          <a:p>
            <a:pPr>
              <a:spcAft>
                <a:spcPts val="600"/>
              </a:spcAft>
              <a:defRPr sz="1400" b="0"/>
            </a:pPr>
            <a:r>
              <a:t>  • Peak Month: ₹13,47,544 (July)</a:t>
            </a:r>
          </a:p>
          <a:p>
            <a:pPr>
              <a:spcAft>
                <a:spcPts val="600"/>
              </a:spcAft>
              <a:defRPr sz="1400" b="0"/>
            </a:pPr>
            <a:r>
              <a:t>  • Bank:Cash Ratio: 76:24 ✅</a:t>
            </a:r>
          </a:p>
          <a:p>
            <a:pPr>
              <a:spcAft>
                <a:spcPts val="600"/>
              </a:spcAft>
              <a:defRPr sz="1600" b="1"/>
            </a:pPr>
          </a:p>
          <a:p>
            <a:pPr>
              <a:spcAft>
                <a:spcPts val="600"/>
              </a:spcAft>
              <a:defRPr sz="1600" b="1"/>
            </a:pPr>
            <a:r>
              <a:t>💰 PROFITABILITY METRICS</a:t>
            </a:r>
          </a:p>
          <a:p>
            <a:pPr>
              <a:spcAft>
                <a:spcPts val="600"/>
              </a:spcAft>
              <a:defRPr sz="1400" b="0"/>
            </a:pPr>
            <a:r>
              <a:t>  • Gross Profit Margin: 50.1% ✅</a:t>
            </a:r>
          </a:p>
          <a:p>
            <a:pPr>
              <a:spcAft>
                <a:spcPts val="600"/>
              </a:spcAft>
              <a:defRPr sz="1400" b="0"/>
            </a:pPr>
            <a:r>
              <a:t>  • Net Profit Margin: 25.9% ✅</a:t>
            </a:r>
          </a:p>
          <a:p>
            <a:pPr>
              <a:spcAft>
                <a:spcPts val="600"/>
              </a:spcAft>
              <a:defRPr sz="1400" b="0"/>
            </a:pPr>
            <a:r>
              <a:t>  • Profitable Months: 7/10 (70%)</a:t>
            </a:r>
          </a:p>
          <a:p>
            <a:pPr>
              <a:spcAft>
                <a:spcPts val="600"/>
              </a:spcAft>
              <a:defRPr sz="1600" b="1"/>
            </a:pPr>
          </a:p>
          <a:p>
            <a:pPr>
              <a:spcAft>
                <a:spcPts val="600"/>
              </a:spcAft>
              <a:defRPr sz="1600" b="1"/>
            </a:pPr>
            <a:r>
              <a:t>📉 EXPENSE METRICS</a:t>
            </a:r>
          </a:p>
          <a:p>
            <a:pPr>
              <a:spcAft>
                <a:spcPts val="600"/>
              </a:spcAft>
              <a:defRPr sz="1400" b="0"/>
            </a:pPr>
            <a:r>
              <a:t>  • Operating Expense Ratio: 49.9%</a:t>
            </a:r>
          </a:p>
          <a:p>
            <a:pPr>
              <a:spcAft>
                <a:spcPts val="600"/>
              </a:spcAft>
              <a:defRPr sz="1400" b="0"/>
            </a:pPr>
            <a:r>
              <a:t>  • Best OpEx Month: July (20.1%)</a:t>
            </a:r>
          </a:p>
          <a:p>
            <a:pPr>
              <a:spcAft>
                <a:spcPts val="600"/>
              </a:spcAft>
              <a:defRPr sz="1400" b="0"/>
            </a:pPr>
            <a:r>
              <a:t>  • Worst OpEx Month: September (87.1%) ⚠️</a:t>
            </a:r>
          </a:p>
          <a:p>
            <a:pPr>
              <a:spcAft>
                <a:spcPts val="600"/>
              </a:spcAft>
              <a:defRPr sz="1400" b="0"/>
            </a:pPr>
            <a:r>
              <a:t>  • Target: &lt;45% (Current: 49.9%)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Issues &amp; Action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 b="1"/>
            </a:pPr>
            <a:r>
              <a:t>🔴 ISSUE #1: REVENUE VOLATILITY</a:t>
            </a:r>
          </a:p>
          <a:p>
            <a:pPr>
              <a:spcAft>
                <a:spcPts val="800"/>
              </a:spcAft>
              <a:defRPr sz="1400" b="0"/>
            </a:pPr>
            <a:r>
              <a:t>  • Problem: 114% variance (₹6.3L to ₹13.5L)</a:t>
            </a:r>
          </a:p>
          <a:p>
            <a:pPr>
              <a:spcAft>
                <a:spcPts val="800"/>
              </a:spcAft>
              <a:defRPr sz="1400" b="0"/>
            </a:pPr>
            <a:r>
              <a:t>  • Impact: Unpredictable cash flow</a:t>
            </a:r>
          </a:p>
          <a:p>
            <a:pPr>
              <a:spcAft>
                <a:spcPts val="800"/>
              </a:spcAft>
              <a:defRPr sz="1400" b="0"/>
            </a:pPr>
            <a:r>
              <a:t>  • Action: Patient retention analysis, marketing campaign</a:t>
            </a:r>
          </a:p>
          <a:p>
            <a:pPr>
              <a:spcAft>
                <a:spcPts val="800"/>
              </a:spcAft>
              <a:defRPr sz="1600" b="1"/>
            </a:pPr>
          </a:p>
          <a:p>
            <a:pPr>
              <a:spcAft>
                <a:spcPts val="800"/>
              </a:spcAft>
              <a:defRPr sz="1600" b="1"/>
            </a:pPr>
            <a:r>
              <a:t>🔴 ISSUE #2: SEPTEMBER EXPENSE CRISIS</a:t>
            </a:r>
          </a:p>
          <a:p>
            <a:pPr>
              <a:spcAft>
                <a:spcPts val="800"/>
              </a:spcAft>
              <a:defRPr sz="1400" b="0"/>
            </a:pPr>
            <a:r>
              <a:t>  • Problem: 87% OpEx ratio (₹6.93L on ₹7.96L revenue)</a:t>
            </a:r>
          </a:p>
          <a:p>
            <a:pPr>
              <a:spcAft>
                <a:spcPts val="800"/>
              </a:spcAft>
              <a:defRPr sz="1400" b="0"/>
            </a:pPr>
            <a:r>
              <a:t>  • Impact: Near-zero profitability</a:t>
            </a:r>
          </a:p>
          <a:p>
            <a:pPr>
              <a:spcAft>
                <a:spcPts val="800"/>
              </a:spcAft>
              <a:defRPr sz="1400" b="0"/>
            </a:pPr>
            <a:r>
              <a:t>  • Action: Immediate expense audit, vendor renegotiation</a:t>
            </a:r>
          </a:p>
          <a:p>
            <a:pPr>
              <a:spcAft>
                <a:spcPts val="800"/>
              </a:spcAft>
              <a:defRPr sz="1600" b="1"/>
            </a:pPr>
          </a:p>
          <a:p>
            <a:pPr>
              <a:spcAft>
                <a:spcPts val="800"/>
              </a:spcAft>
              <a:defRPr sz="1600" b="1"/>
            </a:pPr>
            <a:r>
              <a:t>🔴 ISSUE #3: BANK CASH FLOW VOLATILITY</a:t>
            </a:r>
          </a:p>
          <a:p>
            <a:pPr>
              <a:spcAft>
                <a:spcPts val="800"/>
              </a:spcAft>
              <a:defRPr sz="1400" b="0"/>
            </a:pPr>
            <a:r>
              <a:t>  • Problem: Negative bank flow in 4/10 months</a:t>
            </a:r>
          </a:p>
          <a:p>
            <a:pPr>
              <a:spcAft>
                <a:spcPts val="800"/>
              </a:spcAft>
              <a:defRPr sz="1400" b="0"/>
            </a:pPr>
            <a:r>
              <a:t>  • Impact: Liquidity risk</a:t>
            </a:r>
          </a:p>
          <a:p>
            <a:pPr>
              <a:spcAft>
                <a:spcPts val="800"/>
              </a:spcAft>
              <a:defRPr sz="1400" b="0"/>
            </a:pPr>
            <a:r>
              <a:t>  • Action: 13-week cash forecast, ₹5L min balance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 b="1"/>
            </a:pPr>
            <a:r>
              <a:t>PILLAR 1: REVENUE STABILIZATION</a:t>
            </a:r>
          </a:p>
          <a:p>
            <a:pPr>
              <a:spcAft>
                <a:spcPts val="1000"/>
              </a:spcAft>
              <a:defRPr sz="1400" b="0"/>
            </a:pPr>
            <a:r>
              <a:t>  • Target: ₹10L+ monthly with &lt;20% variance</a:t>
            </a:r>
          </a:p>
          <a:p>
            <a:pPr>
              <a:spcAft>
                <a:spcPts val="1000"/>
              </a:spcAft>
              <a:defRPr sz="1400" b="0"/>
            </a:pPr>
            <a:r>
              <a:t>  • Patient acquisition &amp; retention programs</a:t>
            </a:r>
          </a:p>
          <a:p>
            <a:pPr>
              <a:spcAft>
                <a:spcPts val="1000"/>
              </a:spcAft>
              <a:defRPr sz="1400" b="0"/>
            </a:pPr>
            <a:r>
              <a:t>  • Digital marketing campaign (₹30K/month)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PILLAR 2: COST OPTIMIZATION</a:t>
            </a:r>
          </a:p>
          <a:p>
            <a:pPr>
              <a:spcAft>
                <a:spcPts val="1000"/>
              </a:spcAft>
              <a:defRPr sz="1400" b="0"/>
            </a:pPr>
            <a:r>
              <a:t>  • Target: Reduce OpEx to &lt;45% of revenue</a:t>
            </a:r>
          </a:p>
          <a:p>
            <a:pPr>
              <a:spcAft>
                <a:spcPts val="1000"/>
              </a:spcAft>
              <a:defRPr sz="1400" b="0"/>
            </a:pPr>
            <a:r>
              <a:t>  • Savings potential: ₹4-5L annually</a:t>
            </a:r>
          </a:p>
          <a:p>
            <a:pPr>
              <a:spcAft>
                <a:spcPts val="1000"/>
              </a:spcAft>
              <a:defRPr sz="1400" b="0"/>
            </a:pPr>
            <a:r>
              <a:t>  • Vendor contract renegotiation</a:t>
            </a:r>
          </a:p>
          <a:p>
            <a:pPr>
              <a:spcAft>
                <a:spcPts val="1000"/>
              </a:spcAft>
              <a:defRPr sz="1800" b="1"/>
            </a:pPr>
          </a:p>
          <a:p>
            <a:pPr>
              <a:spcAft>
                <a:spcPts val="1000"/>
              </a:spcAft>
              <a:defRPr sz="1800" b="1"/>
            </a:pPr>
            <a:r>
              <a:t>PILLAR 3: CASH FLOW MANAGEMENT</a:t>
            </a:r>
          </a:p>
          <a:p>
            <a:pPr>
              <a:spcAft>
                <a:spcPts val="1000"/>
              </a:spcAft>
              <a:defRPr sz="1400" b="0"/>
            </a:pPr>
            <a:r>
              <a:t>  • Target: Zero negative bank flow months</a:t>
            </a:r>
          </a:p>
          <a:p>
            <a:pPr>
              <a:spcAft>
                <a:spcPts val="1000"/>
              </a:spcAft>
              <a:defRPr sz="1400" b="0"/>
            </a:pPr>
            <a:r>
              <a:t>  • Maintain ₹5L minimum bank balance</a:t>
            </a:r>
          </a:p>
          <a:p>
            <a:pPr>
              <a:spcAft>
                <a:spcPts val="1000"/>
              </a:spcAft>
              <a:defRPr sz="1400" b="0"/>
            </a:pPr>
            <a:r>
              <a:t>  • 13-week rolling cash forecast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90-Day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/>
            </a:pPr>
            <a:r>
              <a:t>MONTH 1: STABILIZATION (Days 1-30)</a:t>
            </a:r>
          </a:p>
          <a:p>
            <a:pPr>
              <a:spcAft>
                <a:spcPts val="800"/>
              </a:spcAft>
              <a:defRPr sz="1400" b="0"/>
            </a:pPr>
            <a:r>
              <a:t>  ✅ Conduct September expense audit</a:t>
            </a:r>
          </a:p>
          <a:p>
            <a:pPr>
              <a:spcAft>
                <a:spcPts val="800"/>
              </a:spcAft>
              <a:defRPr sz="1400" b="0"/>
            </a:pPr>
            <a:r>
              <a:t>  ✅ Analyze July revenue drivers</a:t>
            </a:r>
          </a:p>
          <a:p>
            <a:pPr>
              <a:spcAft>
                <a:spcPts val="800"/>
              </a:spcAft>
              <a:defRPr sz="1400" b="0"/>
            </a:pPr>
            <a:r>
              <a:t>  ✅ Implement weekly cash flow reviews</a:t>
            </a:r>
          </a:p>
          <a:p>
            <a:pPr>
              <a:spcAft>
                <a:spcPts val="800"/>
              </a:spcAft>
              <a:defRPr sz="1400" b="0"/>
            </a:pPr>
            <a:r>
              <a:t>  ✅ Create monthly expense budgets</a:t>
            </a:r>
          </a:p>
          <a:p>
            <a:pPr>
              <a:spcAft>
                <a:spcPts val="800"/>
              </a:spcAft>
              <a:defRPr sz="1800" b="1"/>
            </a:pPr>
          </a:p>
          <a:p>
            <a:pPr>
              <a:spcAft>
                <a:spcPts val="800"/>
              </a:spcAft>
              <a:defRPr sz="1800" b="1"/>
            </a:pPr>
            <a:r>
              <a:t>MONTH 2: OPTIMIZATION (Days 31-60)</a:t>
            </a:r>
          </a:p>
          <a:p>
            <a:pPr>
              <a:spcAft>
                <a:spcPts val="800"/>
              </a:spcAft>
              <a:defRPr sz="1400" b="0"/>
            </a:pPr>
            <a:r>
              <a:t>  ✅ Launch patient retention program</a:t>
            </a:r>
          </a:p>
          <a:p>
            <a:pPr>
              <a:spcAft>
                <a:spcPts val="800"/>
              </a:spcAft>
              <a:defRPr sz="1400" b="0"/>
            </a:pPr>
            <a:r>
              <a:t>  ✅ Renegotiate top 5 vendor contracts</a:t>
            </a:r>
          </a:p>
          <a:p>
            <a:pPr>
              <a:spcAft>
                <a:spcPts val="800"/>
              </a:spcAft>
              <a:defRPr sz="1400" b="0"/>
            </a:pPr>
            <a:r>
              <a:t>  ✅ Implement digital payment incentives</a:t>
            </a:r>
          </a:p>
          <a:p>
            <a:pPr>
              <a:spcAft>
                <a:spcPts val="800"/>
              </a:spcAft>
              <a:defRPr sz="1400" b="0"/>
            </a:pPr>
            <a:r>
              <a:t>  ✅ Set up monthly KPI dashboard</a:t>
            </a:r>
          </a:p>
          <a:p>
            <a:pPr>
              <a:spcAft>
                <a:spcPts val="800"/>
              </a:spcAft>
              <a:defRPr sz="1800" b="1"/>
            </a:pPr>
          </a:p>
          <a:p>
            <a:pPr>
              <a:spcAft>
                <a:spcPts val="800"/>
              </a:spcAft>
              <a:defRPr sz="1800" b="1"/>
            </a:pPr>
            <a:r>
              <a:t>MONTH 3: GROWTH (Days 61-90)</a:t>
            </a:r>
          </a:p>
          <a:p>
            <a:pPr>
              <a:spcAft>
                <a:spcPts val="800"/>
              </a:spcAft>
              <a:defRPr sz="1400" b="0"/>
            </a:pPr>
            <a:r>
              <a:t>  ✅ Launch digital marketing campaign</a:t>
            </a:r>
          </a:p>
          <a:p>
            <a:pPr>
              <a:spcAft>
                <a:spcPts val="800"/>
              </a:spcAft>
              <a:defRPr sz="1400" b="0"/>
            </a:pPr>
            <a:r>
              <a:t>  ✅ Conduct quarterly business review</a:t>
            </a:r>
          </a:p>
          <a:p>
            <a:pPr>
              <a:spcAft>
                <a:spcPts val="800"/>
              </a:spcAft>
              <a:defRPr sz="1400" b="0"/>
            </a:pPr>
            <a:r>
              <a:t>  ✅ Set FY 2026 financial targets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(FY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1"/>
            </a:pPr>
            <a:r>
              <a:t>IF RECOMMENDATIONS IMPLEMENTED:</a:t>
            </a:r>
          </a:p>
          <a:p>
            <a:pPr>
              <a:spcAft>
                <a:spcPts val="800"/>
              </a:spcAft>
              <a:defRPr sz="1800" b="1"/>
            </a:pPr>
          </a:p>
          <a:p>
            <a:pPr>
              <a:spcAft>
                <a:spcPts val="800"/>
              </a:spcAft>
              <a:defRPr sz="1800" b="1"/>
            </a:pPr>
            <a:r>
              <a:t>📊 PROJECTED FY 2026 PERFORMANCE</a:t>
            </a:r>
          </a:p>
          <a:p>
            <a:pPr>
              <a:spcAft>
                <a:spcPts val="800"/>
              </a:spcAft>
              <a:defRPr sz="1400" b="0"/>
            </a:pPr>
            <a:r>
              <a:t>  • Revenue: ₹1.40 Cr (+25% growth)</a:t>
            </a:r>
          </a:p>
          <a:p>
            <a:pPr>
              <a:spcAft>
                <a:spcPts val="800"/>
              </a:spcAft>
              <a:defRPr sz="1400" b="0"/>
            </a:pPr>
            <a:r>
              <a:t>  • Net Profit: ₹49L (+59% growth)</a:t>
            </a:r>
          </a:p>
          <a:p>
            <a:pPr>
              <a:spcAft>
                <a:spcPts val="800"/>
              </a:spcAft>
              <a:defRPr sz="1400" b="0"/>
            </a:pPr>
            <a:r>
              <a:t>  • Net Margin: 35% (from 28%)</a:t>
            </a:r>
          </a:p>
          <a:p>
            <a:pPr>
              <a:spcAft>
                <a:spcPts val="800"/>
              </a:spcAft>
              <a:defRPr sz="1400" b="0"/>
            </a:pPr>
            <a:r>
              <a:t>  • ALL 12 months profitable</a:t>
            </a:r>
          </a:p>
          <a:p>
            <a:pPr>
              <a:spcAft>
                <a:spcPts val="800"/>
              </a:spcAft>
              <a:defRPr sz="1800" b="1"/>
            </a:pPr>
          </a:p>
          <a:p>
            <a:pPr>
              <a:spcAft>
                <a:spcPts val="800"/>
              </a:spcAft>
              <a:defRPr sz="1800" b="1"/>
            </a:pPr>
            <a:r>
              <a:t>💰 FINANCIAL IMPROVEMENTS</a:t>
            </a:r>
          </a:p>
          <a:p>
            <a:pPr>
              <a:spcAft>
                <a:spcPts val="800"/>
              </a:spcAft>
              <a:defRPr sz="1400" b="0"/>
            </a:pPr>
            <a:r>
              <a:t>  • Operating expenses: 43% (from 50%)</a:t>
            </a:r>
          </a:p>
          <a:p>
            <a:pPr>
              <a:spcAft>
                <a:spcPts val="800"/>
              </a:spcAft>
              <a:defRPr sz="1400" b="0"/>
            </a:pPr>
            <a:r>
              <a:t>  • Cost savings: ₹8-10L annually</a:t>
            </a:r>
          </a:p>
          <a:p>
            <a:pPr>
              <a:spcAft>
                <a:spcPts val="800"/>
              </a:spcAft>
              <a:defRPr sz="1400" b="0"/>
            </a:pPr>
            <a:r>
              <a:t>  • Zero negative bank flow months</a:t>
            </a:r>
          </a:p>
          <a:p>
            <a:pPr>
              <a:spcAft>
                <a:spcPts val="800"/>
              </a:spcAft>
              <a:defRPr sz="1800" b="1"/>
            </a:pPr>
          </a:p>
          <a:p>
            <a:pPr>
              <a:spcAft>
                <a:spcPts val="800"/>
              </a:spcAft>
              <a:defRPr sz="1800" b="1"/>
            </a:pPr>
            <a:r>
              <a:t>🎯 OPERATIONAL EXCELLENCE</a:t>
            </a:r>
          </a:p>
          <a:p>
            <a:pPr>
              <a:spcAft>
                <a:spcPts val="800"/>
              </a:spcAft>
              <a:defRPr sz="1400" b="0"/>
            </a:pPr>
            <a:r>
              <a:t>  • Patient retention: 85%+</a:t>
            </a:r>
          </a:p>
          <a:p>
            <a:pPr>
              <a:spcAft>
                <a:spcPts val="800"/>
              </a:spcAft>
              <a:defRPr sz="1400" b="0"/>
            </a:pPr>
            <a:r>
              <a:t>  • Revenue volatility: &lt;20%</a:t>
            </a:r>
          </a:p>
          <a:p>
            <a:pPr>
              <a:spcAft>
                <a:spcPts val="800"/>
              </a:spcAft>
              <a:defRPr sz="1400" b="0"/>
            </a:pPr>
            <a:r>
              <a:t>  • Monthly revenue: ₹11.67L avg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 b="1"/>
            </a:pPr>
            <a:r>
              <a:t>✅ WHAT'S WORKING</a:t>
            </a:r>
          </a:p>
          <a:p>
            <a:pPr>
              <a:spcAft>
                <a:spcPts val="800"/>
              </a:spcAft>
              <a:defRPr sz="1400" b="0"/>
            </a:pPr>
            <a:r>
              <a:t>  • 50% Gross Profit Margin (Healthy)</a:t>
            </a:r>
          </a:p>
          <a:p>
            <a:pPr>
              <a:spcAft>
                <a:spcPts val="800"/>
              </a:spcAft>
              <a:defRPr sz="1400" b="0"/>
            </a:pPr>
            <a:r>
              <a:t>  • ₹24.3L Net Profit in 10 months</a:t>
            </a:r>
          </a:p>
          <a:p>
            <a:pPr>
              <a:spcAft>
                <a:spcPts val="800"/>
              </a:spcAft>
              <a:defRPr sz="1400" b="0"/>
            </a:pPr>
            <a:r>
              <a:t>  • 70% Profitable months</a:t>
            </a:r>
          </a:p>
          <a:p>
            <a:pPr>
              <a:spcAft>
                <a:spcPts val="800"/>
              </a:spcAft>
              <a:defRPr sz="1600" b="1"/>
            </a:pPr>
          </a:p>
          <a:p>
            <a:pPr>
              <a:spcAft>
                <a:spcPts val="800"/>
              </a:spcAft>
              <a:defRPr sz="1600" b="1"/>
            </a:pPr>
            <a:r>
              <a:t>⚠️ NEEDS ATTENTION</a:t>
            </a:r>
          </a:p>
          <a:p>
            <a:pPr>
              <a:spcAft>
                <a:spcPts val="800"/>
              </a:spcAft>
              <a:defRPr sz="1400" b="0"/>
            </a:pPr>
            <a:r>
              <a:t>  • 114% Revenue volatility (Very high)</a:t>
            </a:r>
          </a:p>
          <a:p>
            <a:pPr>
              <a:spcAft>
                <a:spcPts val="800"/>
              </a:spcAft>
              <a:defRPr sz="1400" b="0"/>
            </a:pPr>
            <a:r>
              <a:t>  • September expense crisis (87% OpEx)</a:t>
            </a:r>
          </a:p>
          <a:p>
            <a:pPr>
              <a:spcAft>
                <a:spcPts val="800"/>
              </a:spcAft>
              <a:defRPr sz="1400" b="0"/>
            </a:pPr>
            <a:r>
              <a:t>  • 3 Loss-making months</a:t>
            </a:r>
          </a:p>
          <a:p>
            <a:pPr>
              <a:spcAft>
                <a:spcPts val="800"/>
              </a:spcAft>
              <a:defRPr sz="1600" b="1"/>
            </a:pPr>
          </a:p>
          <a:p>
            <a:pPr>
              <a:spcAft>
                <a:spcPts val="800"/>
              </a:spcAft>
              <a:defRPr sz="1600" b="1"/>
            </a:pPr>
            <a:r>
              <a:t>🎯 TOP 3 PRIORITIES (Next 90 Days)</a:t>
            </a:r>
          </a:p>
          <a:p>
            <a:pPr>
              <a:spcAft>
                <a:spcPts val="800"/>
              </a:spcAft>
              <a:defRPr sz="1400" b="0"/>
            </a:pPr>
            <a:r>
              <a:t>  1. Stabilize revenue (₹10L+ monthly)</a:t>
            </a:r>
          </a:p>
          <a:p>
            <a:pPr>
              <a:spcAft>
                <a:spcPts val="800"/>
              </a:spcAft>
              <a:defRPr sz="1400" b="0"/>
            </a:pPr>
            <a:r>
              <a:t>  2. Control OpEx (&lt;45% of revenue)</a:t>
            </a:r>
          </a:p>
          <a:p>
            <a:pPr>
              <a:spcAft>
                <a:spcPts val="800"/>
              </a:spcAft>
              <a:defRPr sz="1400" b="0"/>
            </a:pPr>
            <a:r>
              <a:t>  3. Improve cash visibility (₹5L+ bank balance)</a:t>
            </a:r>
          </a:p>
          <a:p>
            <a:pPr>
              <a:spcAft>
                <a:spcPts val="800"/>
              </a:spcAft>
              <a:defRPr sz="1600" b="1"/>
            </a:pPr>
          </a:p>
          <a:p>
            <a:pPr>
              <a:spcAft>
                <a:spcPts val="800"/>
              </a:spcAft>
              <a:defRPr sz="1600" b="1"/>
            </a:pPr>
            <a:r>
              <a:t>📈 12-MONTH TARGET</a:t>
            </a:r>
          </a:p>
          <a:p>
            <a:pPr>
              <a:spcAft>
                <a:spcPts val="800"/>
              </a:spcAft>
              <a:defRPr sz="1400" b="0"/>
            </a:pPr>
            <a:r>
              <a:t>  • Revenue: ₹1.40 Cr | Net Profit: ₹49L | Margin: 35%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