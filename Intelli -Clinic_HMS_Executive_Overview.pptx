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0DF27A-09B5-6C06-383A-AC94703996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72645" y="5808513"/>
            <a:ext cx="912962" cy="912962"/>
          </a:xfrm>
          <a:prstGeom prst="rect">
            <a:avLst/>
          </a:prstGeom>
        </p:spPr>
      </p:pic>
      <p:pic>
        <p:nvPicPr>
          <p:cNvPr id="5" name="Picture 4" descr="Tulip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5990590"/>
            <a:ext cx="91440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199" y="4534763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E6F0"/>
                </a:solidFill>
              </a:defRPr>
            </a:pPr>
            <a:r>
              <a:rPr dirty="0"/>
              <a:t>Healthcare Management System - Executive Overview</a:t>
            </a:r>
            <a:br>
              <a:rPr dirty="0"/>
            </a:br>
            <a:r>
              <a:rPr dirty="0"/>
              <a:t>November 2025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057939-ADC4-1C3B-FBEE-08EFB540E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309" y="256308"/>
            <a:ext cx="12192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34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§"/>
              <a:defRPr sz="2000">
                <a:solidFill>
                  <a:srgbClr val="333333"/>
                </a:solidFill>
              </a:defRPr>
            </a:pPr>
            <a:r>
              <a:rPr lang="en-IN" sz="2000" dirty="0">
                <a:solidFill>
                  <a:srgbClr val="333333"/>
                </a:solidFill>
              </a:rPr>
              <a:t>Intelli -Clinic</a:t>
            </a:r>
            <a:r>
              <a:rPr sz="2000" dirty="0">
                <a:solidFill>
                  <a:srgbClr val="333333"/>
                </a:solidFill>
              </a:rPr>
              <a:t> is a comprehensive Hospital Management System (HMS) designed for mid-size </a:t>
            </a:r>
            <a:r>
              <a:rPr lang="en-IN" sz="2000" dirty="0">
                <a:solidFill>
                  <a:srgbClr val="333333"/>
                </a:solidFill>
              </a:rPr>
              <a:t>hospitals</a:t>
            </a:r>
            <a:r>
              <a:rPr sz="2000" dirty="0">
                <a:solidFill>
                  <a:srgbClr val="333333"/>
                </a:solidFill>
              </a:rPr>
              <a:t> and aesthetic clinics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§"/>
              <a:defRPr sz="2000">
                <a:solidFill>
                  <a:srgbClr val="333333"/>
                </a:solidFill>
              </a:defRPr>
            </a:pPr>
            <a:r>
              <a:rPr sz="2000" dirty="0">
                <a:solidFill>
                  <a:srgbClr val="333333"/>
                </a:solidFill>
              </a:rPr>
              <a:t>Built with enterprise-grade architecture supporting multi-hospital, multi-branch operations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§"/>
              <a:defRPr sz="2000">
                <a:solidFill>
                  <a:srgbClr val="333333"/>
                </a:solidFill>
              </a:defRPr>
            </a:pPr>
            <a:r>
              <a:rPr sz="2000" dirty="0">
                <a:solidFill>
                  <a:srgbClr val="333333"/>
                </a:solidFill>
              </a:rPr>
              <a:t>Fully compliant with Indian GST regulations and healthcare industry standards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§"/>
              <a:defRPr sz="2000">
                <a:solidFill>
                  <a:srgbClr val="333333"/>
                </a:solidFill>
              </a:defRPr>
            </a:pPr>
            <a:r>
              <a:rPr sz="2000" dirty="0">
                <a:solidFill>
                  <a:srgbClr val="333333"/>
                </a:solidFill>
              </a:rPr>
              <a:t>Features advanced Role-Based Access Control (RBAC) with branch-level security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§"/>
              <a:defRPr sz="2000">
                <a:solidFill>
                  <a:srgbClr val="333333"/>
                </a:solidFill>
              </a:defRPr>
            </a:pPr>
            <a:r>
              <a:rPr sz="2000" dirty="0">
                <a:solidFill>
                  <a:srgbClr val="333333"/>
                </a:solidFill>
              </a:rPr>
              <a:t>Innovative 'Universal Engine' reduces new module development time by 90%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§"/>
              <a:defRPr sz="2000">
                <a:solidFill>
                  <a:srgbClr val="333333"/>
                </a:solidFill>
              </a:defRPr>
            </a:pPr>
            <a:r>
              <a:rPr sz="2000" dirty="0">
                <a:solidFill>
                  <a:srgbClr val="333333"/>
                </a:solidFill>
              </a:rPr>
              <a:t>Production-ready with comprehensive billing, inventory, and financial management</a:t>
            </a:r>
            <a:endParaRPr lang="en-IN" sz="2000" dirty="0">
              <a:solidFill>
                <a:srgbClr val="333333"/>
              </a:solidFill>
            </a:endParaRP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§"/>
              <a:defRPr sz="2000">
                <a:solidFill>
                  <a:srgbClr val="333333"/>
                </a:solidFill>
              </a:defRPr>
            </a:pPr>
            <a:r>
              <a:rPr lang="en-IN" sz="2000" dirty="0">
                <a:solidFill>
                  <a:srgbClr val="333333"/>
                </a:solidFill>
              </a:rPr>
              <a:t>Skinspire Clinic has signed up to be a pilot customer and have provided key insights to design based on real life scenario.  Skinspire Clinic is a leading Aesthetic &amp; Skin clinic, situated in Rajarajeshwari Nagar, Bangalore.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6E9C93-A577-2B27-6825-F3C9041F0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021" y="5758521"/>
            <a:ext cx="2974543" cy="878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Our Vision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Vision - Transforming Healthcare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33333"/>
                </a:solidFill>
              </a:defRPr>
            </a:pPr>
            <a:r>
              <a:rPr dirty="0"/>
              <a:t>• "To become the leading healthcare management platform for </a:t>
            </a:r>
            <a:r>
              <a:rPr lang="en-IN" dirty="0"/>
              <a:t>mid size hospitals </a:t>
            </a:r>
            <a:r>
              <a:rPr dirty="0"/>
              <a:t>and aesthetic clinics across India"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Empower clinics with intelligent automation to focus on patient care, not paperwork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Create a unified ecosystem connecting patients, providers, and financial systems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Enable data-driven decision making through AI-powered analytics and insights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Build a scalable platform that grows from single clinic to multi-city hospital chains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Pioneer voice-enabled healthcare documentation for hands-free clinical workflows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Achieve seamless integration with India's digital payment and banking infrastructure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Strategic Goals 2025-2027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Year 1: Complete core HMS with payment gateway and bank integrations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Year 1: Deploy AI-powered voice assistant for clinical documentation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Year 2: Launch patient mobile app with appointment and payment features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Year 2: Implement predictive analytics for inventory and promotions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Year 3: Expand to 100+ clinic deployments across major Indian cities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Year 3: Achieve EMR/EHR certification and insurance integration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Ongoing: Maintain 99.9% uptime with enterprise-grade security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10698480" cy="7315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508760" y="3703320"/>
            <a:ext cx="347472" cy="347472"/>
          </a:xfrm>
          <a:prstGeom prst="ellipse">
            <a:avLst/>
          </a:prstGeom>
          <a:solidFill>
            <a:srgbClr val="3F51B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828800" cy="1463040"/>
          </a:xfrm>
          <a:prstGeom prst="roundRect">
            <a:avLst/>
          </a:prstGeom>
          <a:solidFill>
            <a:srgbClr val="3F51B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536192"/>
            <a:ext cx="1682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Feb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828800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Planning &amp;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16824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F0F0F0"/>
                </a:solidFill>
              </a:defRPr>
            </a:pPr>
            <a:r>
              <a:t>Requirements, Architecture, UI/UX Design</a:t>
            </a:r>
          </a:p>
        </p:txBody>
      </p:sp>
      <p:sp>
        <p:nvSpPr>
          <p:cNvPr id="10" name="Oval 9"/>
          <p:cNvSpPr/>
          <p:nvPr/>
        </p:nvSpPr>
        <p:spPr>
          <a:xfrm>
            <a:off x="3429000" y="3703320"/>
            <a:ext cx="347472" cy="347472"/>
          </a:xfrm>
          <a:prstGeom prst="ellipse">
            <a:avLst/>
          </a:prstGeom>
          <a:solidFill>
            <a:srgbClr val="009688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651760" y="4297680"/>
            <a:ext cx="1828800" cy="1463040"/>
          </a:xfrm>
          <a:prstGeom prst="roundRect">
            <a:avLst/>
          </a:prstGeom>
          <a:solidFill>
            <a:srgbClr val="009688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24912" y="4370832"/>
            <a:ext cx="1682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May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4912" y="4663440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Development Begin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5120640"/>
            <a:ext cx="16824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F0F0F0"/>
                </a:solidFill>
              </a:defRPr>
            </a:pPr>
            <a:r>
              <a:t>Core modules, Database, Security framework</a:t>
            </a:r>
          </a:p>
        </p:txBody>
      </p:sp>
      <p:sp>
        <p:nvSpPr>
          <p:cNvPr id="15" name="Oval 14"/>
          <p:cNvSpPr/>
          <p:nvPr/>
        </p:nvSpPr>
        <p:spPr>
          <a:xfrm>
            <a:off x="5349240" y="3703320"/>
            <a:ext cx="347472" cy="347472"/>
          </a:xfrm>
          <a:prstGeom prst="ellipse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72000" y="1463040"/>
            <a:ext cx="1828800" cy="1463040"/>
          </a:xfrm>
          <a:prstGeom prst="roundRect">
            <a:avLst/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45152" y="1536192"/>
            <a:ext cx="1682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Jan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1828800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1: 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2286000"/>
            <a:ext cx="16824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F0F0F0"/>
                </a:solidFill>
              </a:defRPr>
            </a:pPr>
            <a:r>
              <a:t>Patient, Billing, Inventory, Payments go-live</a:t>
            </a:r>
          </a:p>
        </p:txBody>
      </p:sp>
      <p:sp>
        <p:nvSpPr>
          <p:cNvPr id="20" name="Oval 19"/>
          <p:cNvSpPr/>
          <p:nvPr/>
        </p:nvSpPr>
        <p:spPr>
          <a:xfrm>
            <a:off x="7269480" y="3703320"/>
            <a:ext cx="347472" cy="347472"/>
          </a:xfrm>
          <a:prstGeom prst="ellipse">
            <a:avLst/>
          </a:prstGeom>
          <a:solidFill>
            <a:srgbClr val="FF9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92240" y="4297680"/>
            <a:ext cx="1828800" cy="1463040"/>
          </a:xfrm>
          <a:prstGeom prst="roundRect">
            <a:avLst/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65392" y="4370832"/>
            <a:ext cx="1682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Apr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663440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2: AI &amp;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5120640"/>
            <a:ext cx="16824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F0F0F0"/>
                </a:solidFill>
              </a:defRPr>
            </a:pPr>
            <a:r>
              <a:t>Voice Assistant, Bank/Payment Gateway</a:t>
            </a:r>
          </a:p>
        </p:txBody>
      </p:sp>
      <p:sp>
        <p:nvSpPr>
          <p:cNvPr id="25" name="Oval 24"/>
          <p:cNvSpPr/>
          <p:nvPr/>
        </p:nvSpPr>
        <p:spPr>
          <a:xfrm>
            <a:off x="9189720" y="3703320"/>
            <a:ext cx="347472" cy="347472"/>
          </a:xfrm>
          <a:prstGeom prst="ellipse">
            <a:avLst/>
          </a:prstGeom>
          <a:solidFill>
            <a:srgbClr val="E91E6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412480" y="1463040"/>
            <a:ext cx="1828800" cy="1463040"/>
          </a:xfrm>
          <a:prstGeom prst="roundRect">
            <a:avLst/>
          </a:prstGeom>
          <a:solidFill>
            <a:srgbClr val="E91E6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85632" y="1536192"/>
            <a:ext cx="1682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Jul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1828800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3: Pilot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5632" y="2286000"/>
            <a:ext cx="16824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F0F0F0"/>
                </a:solidFill>
              </a:defRPr>
            </a:pPr>
            <a:r>
              <a:t>Pilot deployment @ SkinSpire clinic</a:t>
            </a:r>
          </a:p>
        </p:txBody>
      </p:sp>
      <p:sp>
        <p:nvSpPr>
          <p:cNvPr id="30" name="Oval 29"/>
          <p:cNvSpPr/>
          <p:nvPr/>
        </p:nvSpPr>
        <p:spPr>
          <a:xfrm>
            <a:off x="11109960" y="3703320"/>
            <a:ext cx="347472" cy="347472"/>
          </a:xfrm>
          <a:prstGeom prst="ellipse">
            <a:avLst/>
          </a:prstGeom>
          <a:solidFill>
            <a:srgbClr val="9C27B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332720" y="4297680"/>
            <a:ext cx="1828800" cy="1463040"/>
          </a:xfrm>
          <a:prstGeom prst="roundRect">
            <a:avLst/>
          </a:prstGeom>
          <a:solidFill>
            <a:srgbClr val="9C27B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405872" y="4370832"/>
            <a:ext cx="1682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Sep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05872" y="4663440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4: Roll 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05872" y="5120640"/>
            <a:ext cx="16824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F0F0F0"/>
                </a:solidFill>
              </a:defRPr>
            </a:pPr>
            <a:r>
              <a:t>Multi-tenant hosting for 5 clinics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Timeline: 20 months from planning to multi-clinic deployment | Current Status: Development Phase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Business Value Proposition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Business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Multi-Tenant Architecture: Single deployment serves multiple hospitals/branches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Regulatory Compliance: Full GST support (CGST, SGST, IGST) for Indian healthcare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Financial Integration: Double-entry accounting with Chart of Accounts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Scalable Design: From single clinic to hospital chain without code changes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Security First: Field-level encryption, audit trails, and RBAC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Cost Efficient: Reduces operational overhead with streamlined workflows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Future Ready: Foundation for EMR/EHR, telemedicine, and insurance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Core Modules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Module Implementation Status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CAE6351-3925-6EF6-37CB-32BF0841B3EB}"/>
              </a:ext>
            </a:extLst>
          </p:cNvPr>
          <p:cNvGrpSpPr/>
          <p:nvPr/>
        </p:nvGrpSpPr>
        <p:grpSpPr>
          <a:xfrm>
            <a:off x="457200" y="1463040"/>
            <a:ext cx="10801927" cy="4355869"/>
            <a:chOff x="457200" y="1463040"/>
            <a:chExt cx="11155680" cy="516636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1463040"/>
              <a:ext cx="2651760" cy="1188720"/>
            </a:xfrm>
            <a:prstGeom prst="roundRect">
              <a:avLst/>
            </a:prstGeom>
            <a:solidFill>
              <a:srgbClr val="FFFACD"/>
            </a:solidFill>
            <a:ln w="19050">
              <a:solidFill>
                <a:srgbClr val="0066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48640" y="1645920"/>
              <a:ext cx="2468880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333333"/>
                  </a:solidFill>
                </a:defRPr>
              </a:pPr>
              <a:r>
                <a:t>Patient Management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291840" y="1463040"/>
              <a:ext cx="2651760" cy="1188720"/>
            </a:xfrm>
            <a:prstGeom prst="roundRect">
              <a:avLst/>
            </a:prstGeom>
            <a:solidFill>
              <a:srgbClr val="FFFACD"/>
            </a:solidFill>
            <a:ln w="19050">
              <a:solidFill>
                <a:srgbClr val="0066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383280" y="1645920"/>
              <a:ext cx="2468880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333333"/>
                  </a:solidFill>
                </a:defRPr>
              </a:pPr>
              <a:r>
                <a:t>Appointment Booking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126480" y="1463040"/>
              <a:ext cx="2651760" cy="1188720"/>
            </a:xfrm>
            <a:prstGeom prst="roundRect">
              <a:avLst/>
            </a:prstGeom>
            <a:solidFill>
              <a:srgbClr val="FFFACD"/>
            </a:solidFill>
            <a:ln w="19050">
              <a:solidFill>
                <a:srgbClr val="0066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217920" y="1645920"/>
              <a:ext cx="2468880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333333"/>
                  </a:solidFill>
                </a:defRPr>
              </a:pPr>
              <a:r>
                <a:t>Doctor Consultation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961120" y="1463040"/>
              <a:ext cx="2651760" cy="1188720"/>
            </a:xfrm>
            <a:prstGeom prst="roundRect">
              <a:avLst/>
            </a:prstGeom>
            <a:solidFill>
              <a:srgbClr val="DCFFDC"/>
            </a:solidFill>
            <a:ln w="19050">
              <a:solidFill>
                <a:srgbClr val="0066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052560" y="1645920"/>
              <a:ext cx="2468880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333333"/>
                  </a:solidFill>
                </a:defRPr>
              </a:pPr>
              <a:r>
                <a:t>Billing &amp; Invoicing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052560" y="2240280"/>
              <a:ext cx="246888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100">
                  <a:solidFill>
                    <a:srgbClr val="228B22"/>
                  </a:solidFill>
                </a:defRPr>
              </a:pPr>
              <a:r>
                <a:t>Complete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57200" y="2788920"/>
              <a:ext cx="2651760" cy="1188720"/>
            </a:xfrm>
            <a:prstGeom prst="roundRect">
              <a:avLst/>
            </a:prstGeom>
            <a:solidFill>
              <a:srgbClr val="DCFFDC"/>
            </a:solidFill>
            <a:ln w="19050">
              <a:solidFill>
                <a:srgbClr val="0066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48640" y="2971800"/>
              <a:ext cx="2468880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333333"/>
                  </a:solidFill>
                </a:defRPr>
              </a:pPr>
              <a:r>
                <a:t>Payment Processing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48640" y="3566160"/>
              <a:ext cx="246888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100">
                  <a:solidFill>
                    <a:srgbClr val="228B22"/>
                  </a:solidFill>
                </a:defRPr>
              </a:pPr>
              <a:r>
                <a:t>Complete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3291840" y="2788920"/>
              <a:ext cx="2651760" cy="1188720"/>
            </a:xfrm>
            <a:prstGeom prst="roundRect">
              <a:avLst/>
            </a:prstGeom>
            <a:solidFill>
              <a:srgbClr val="DCFFDC"/>
            </a:solidFill>
            <a:ln w="19050">
              <a:solidFill>
                <a:srgbClr val="0066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383280" y="2971800"/>
              <a:ext cx="246888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333333"/>
                  </a:solidFill>
                </a:defRPr>
              </a:pPr>
              <a:r>
                <a:rPr dirty="0"/>
                <a:t>Advance Payments</a:t>
              </a:r>
              <a:r>
                <a:rPr lang="en-IN" dirty="0"/>
                <a:t> &amp; credit notes</a:t>
              </a:r>
              <a:endParaRPr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383280" y="3566160"/>
              <a:ext cx="246888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100">
                  <a:solidFill>
                    <a:srgbClr val="228B22"/>
                  </a:solidFill>
                </a:defRPr>
              </a:pPr>
              <a:r>
                <a:t>Complete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126480" y="2788920"/>
              <a:ext cx="2651760" cy="1188720"/>
            </a:xfrm>
            <a:prstGeom prst="roundRect">
              <a:avLst/>
            </a:prstGeom>
            <a:solidFill>
              <a:srgbClr val="DCFFDC"/>
            </a:solidFill>
            <a:ln w="19050">
              <a:solidFill>
                <a:srgbClr val="0066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217920" y="2971800"/>
              <a:ext cx="2468880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333333"/>
                  </a:solidFill>
                </a:defRPr>
              </a:pPr>
              <a:r>
                <a:t>Purchase Orders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217920" y="3566160"/>
              <a:ext cx="246888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100">
                  <a:solidFill>
                    <a:srgbClr val="228B22"/>
                  </a:solidFill>
                </a:defRPr>
              </a:pPr>
              <a:r>
                <a:t>Complete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8961120" y="2788920"/>
              <a:ext cx="2651760" cy="1188720"/>
            </a:xfrm>
            <a:prstGeom prst="roundRect">
              <a:avLst/>
            </a:prstGeom>
            <a:solidFill>
              <a:srgbClr val="DCFFDC"/>
            </a:solidFill>
            <a:ln w="19050">
              <a:solidFill>
                <a:srgbClr val="0066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052560" y="2971800"/>
              <a:ext cx="2468880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333333"/>
                  </a:solidFill>
                </a:defRPr>
              </a:pPr>
              <a:r>
                <a:t>Supplier Invoices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052560" y="3566160"/>
              <a:ext cx="246888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100">
                  <a:solidFill>
                    <a:srgbClr val="228B22"/>
                  </a:solidFill>
                </a:defRPr>
              </a:pPr>
              <a:r>
                <a:t>Complete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457200" y="4114800"/>
              <a:ext cx="2651760" cy="1188720"/>
            </a:xfrm>
            <a:prstGeom prst="roundRect">
              <a:avLst/>
            </a:prstGeom>
            <a:solidFill>
              <a:srgbClr val="DCFFDC"/>
            </a:solidFill>
            <a:ln w="19050">
              <a:solidFill>
                <a:srgbClr val="0066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48640" y="4297680"/>
              <a:ext cx="2468880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333333"/>
                  </a:solidFill>
                </a:defRPr>
              </a:pPr>
              <a:r>
                <a:t>Supplier Payments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48640" y="4892040"/>
              <a:ext cx="246888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100">
                  <a:solidFill>
                    <a:srgbClr val="228B22"/>
                  </a:solidFill>
                </a:defRPr>
              </a:pPr>
              <a:r>
                <a:t>Complete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3291840" y="4114800"/>
              <a:ext cx="2651760" cy="1188720"/>
            </a:xfrm>
            <a:prstGeom prst="roundRect">
              <a:avLst/>
            </a:prstGeom>
            <a:solidFill>
              <a:srgbClr val="DCFFDC"/>
            </a:solidFill>
            <a:ln w="19050">
              <a:solidFill>
                <a:srgbClr val="0066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383280" y="4297680"/>
              <a:ext cx="2468880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333333"/>
                  </a:solidFill>
                </a:defRPr>
              </a:pPr>
              <a:r>
                <a:t>Inventory Management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383280" y="4892040"/>
              <a:ext cx="246888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100">
                  <a:solidFill>
                    <a:srgbClr val="228B22"/>
                  </a:solidFill>
                </a:defRPr>
              </a:pPr>
              <a:r>
                <a:t>Complete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6126480" y="4114800"/>
              <a:ext cx="2651760" cy="1188720"/>
            </a:xfrm>
            <a:prstGeom prst="roundRect">
              <a:avLst/>
            </a:prstGeom>
            <a:solidFill>
              <a:srgbClr val="DCFFDC"/>
            </a:solidFill>
            <a:ln w="19050">
              <a:solidFill>
                <a:srgbClr val="0066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217920" y="4297680"/>
              <a:ext cx="2468880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333333"/>
                  </a:solidFill>
                </a:defRPr>
              </a:pPr>
              <a:r>
                <a:t>Promotions &amp; Discounts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217920" y="4892040"/>
              <a:ext cx="246888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100">
                  <a:solidFill>
                    <a:srgbClr val="228B22"/>
                  </a:solidFill>
                </a:defRPr>
              </a:pPr>
              <a:r>
                <a:t>Complete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8961120" y="4114800"/>
              <a:ext cx="2651760" cy="1188720"/>
            </a:xfrm>
            <a:prstGeom prst="roundRect">
              <a:avLst/>
            </a:prstGeom>
            <a:solidFill>
              <a:srgbClr val="DCFFDC"/>
            </a:solidFill>
            <a:ln w="19050">
              <a:solidFill>
                <a:srgbClr val="0066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052560" y="4297680"/>
              <a:ext cx="2468880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333333"/>
                  </a:solidFill>
                </a:defRPr>
              </a:pPr>
              <a:r>
                <a:t>Universal Engine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052560" y="4892040"/>
              <a:ext cx="246888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100">
                  <a:solidFill>
                    <a:srgbClr val="228B22"/>
                  </a:solidFill>
                </a:defRPr>
              </a:pPr>
              <a:r>
                <a:t>Complete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457200" y="5440680"/>
              <a:ext cx="2651760" cy="1188720"/>
            </a:xfrm>
            <a:prstGeom prst="roundRect">
              <a:avLst/>
            </a:prstGeom>
            <a:solidFill>
              <a:srgbClr val="DCFFDC"/>
            </a:solidFill>
            <a:ln w="19050">
              <a:solidFill>
                <a:srgbClr val="0066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48640" y="5623560"/>
              <a:ext cx="2468880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333333"/>
                  </a:solidFill>
                </a:defRPr>
              </a:pPr>
              <a:r>
                <a:t>RBAC Security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48640" y="6217920"/>
              <a:ext cx="246888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100">
                  <a:solidFill>
                    <a:srgbClr val="228B22"/>
                  </a:solidFill>
                </a:defRPr>
              </a:pPr>
              <a:r>
                <a:t>Complete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3291840" y="5440680"/>
              <a:ext cx="2651760" cy="1188720"/>
            </a:xfrm>
            <a:prstGeom prst="roundRect">
              <a:avLst/>
            </a:prstGeom>
            <a:solidFill>
              <a:srgbClr val="DCFFDC"/>
            </a:solidFill>
            <a:ln w="19050">
              <a:solidFill>
                <a:srgbClr val="0066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383280" y="5623560"/>
              <a:ext cx="2468880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333333"/>
                  </a:solidFill>
                </a:defRPr>
              </a:pPr>
              <a:r>
                <a:t>GL Accounting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383280" y="6217920"/>
              <a:ext cx="246888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100">
                  <a:solidFill>
                    <a:srgbClr val="228B22"/>
                  </a:solidFill>
                </a:defRPr>
              </a:pPr>
              <a:r>
                <a:t>Complete</a:t>
              </a: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6126480" y="5440680"/>
              <a:ext cx="2651760" cy="1188720"/>
            </a:xfrm>
            <a:prstGeom prst="roundRect">
              <a:avLst/>
            </a:prstGeom>
            <a:solidFill>
              <a:srgbClr val="FFFACD"/>
            </a:solidFill>
            <a:ln w="19050">
              <a:solidFill>
                <a:srgbClr val="0066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217920" y="5623560"/>
              <a:ext cx="24688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333333"/>
                  </a:solidFill>
                </a:defRPr>
              </a:pPr>
              <a:r>
                <a:rPr lang="en-IN" dirty="0"/>
                <a:t>OT &amp; In-patient management</a:t>
              </a:r>
              <a:endParaRPr dirty="0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8961120" y="5440680"/>
              <a:ext cx="2651760" cy="1188720"/>
            </a:xfrm>
            <a:prstGeom prst="roundRect">
              <a:avLst/>
            </a:prstGeom>
            <a:solidFill>
              <a:srgbClr val="FFFACD"/>
            </a:solidFill>
            <a:ln w="19050">
              <a:solidFill>
                <a:srgbClr val="0066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052560" y="5623560"/>
              <a:ext cx="2468880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333333"/>
                  </a:solidFill>
                </a:defRPr>
              </a:pPr>
              <a:r>
                <a:t>Reports &amp; Analytics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052560" y="6217920"/>
              <a:ext cx="246888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100">
                  <a:solidFill>
                    <a:srgbClr val="FF9900"/>
                  </a:solidFill>
                </a:defRPr>
              </a:pPr>
              <a:r>
                <a:rPr dirty="0"/>
                <a:t>In Progress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1C5BE75-97EB-2E4F-4448-606CDFD2DA23}"/>
                </a:ext>
              </a:extLst>
            </p:cNvPr>
            <p:cNvSpPr txBox="1"/>
            <p:nvPr/>
          </p:nvSpPr>
          <p:spPr>
            <a:xfrm>
              <a:off x="4085019" y="2235815"/>
              <a:ext cx="1004442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100">
                  <a:solidFill>
                    <a:srgbClr val="FF9900"/>
                  </a:solidFill>
                </a:defRPr>
              </a:pPr>
              <a:r>
                <a:rPr sz="1400" b="1" dirty="0"/>
                <a:t>In Progress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C9ABB16-AB78-4382-EDB4-06AD9723AEE6}"/>
                </a:ext>
              </a:extLst>
            </p:cNvPr>
            <p:cNvSpPr txBox="1"/>
            <p:nvPr/>
          </p:nvSpPr>
          <p:spPr>
            <a:xfrm>
              <a:off x="1280859" y="2241588"/>
              <a:ext cx="1004442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100">
                  <a:solidFill>
                    <a:srgbClr val="FF9900"/>
                  </a:solidFill>
                </a:defRPr>
              </a:pPr>
              <a:r>
                <a:rPr sz="1400" b="1" dirty="0"/>
                <a:t>In Progress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09BAEBD-037A-FCBB-0781-53DD14DED76C}"/>
                </a:ext>
              </a:extLst>
            </p:cNvPr>
            <p:cNvSpPr txBox="1"/>
            <p:nvPr/>
          </p:nvSpPr>
          <p:spPr>
            <a:xfrm>
              <a:off x="6950139" y="2206105"/>
              <a:ext cx="1004442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100">
                  <a:solidFill>
                    <a:srgbClr val="FF9900"/>
                  </a:solidFill>
                </a:defRPr>
              </a:pPr>
              <a:r>
                <a:rPr sz="1400" b="1" dirty="0"/>
                <a:t>In Progress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9A98A73-B310-EBAC-C70E-BF79E462F8E6}"/>
                </a:ext>
              </a:extLst>
            </p:cNvPr>
            <p:cNvSpPr txBox="1"/>
            <p:nvPr/>
          </p:nvSpPr>
          <p:spPr>
            <a:xfrm>
              <a:off x="7056256" y="6134690"/>
              <a:ext cx="792205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100">
                  <a:solidFill>
                    <a:srgbClr val="FF9900"/>
                  </a:solidFill>
                </a:defRPr>
              </a:pPr>
              <a:r>
                <a:rPr lang="en-IN" sz="1400" b="1" dirty="0"/>
                <a:t>Planned</a:t>
              </a:r>
              <a:endParaRPr sz="1400" b="1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Patient Journey -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Registration: Complete patient profile with documents and medical history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Appointment: Online/walk-in booking with doctor/service selection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Consultation: Vitals recording, diagnosis, prescriptions, follow-ups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Services: Package selection, treatment sessions, therapist assignments</a:t>
            </a:r>
            <a:r>
              <a:rPr lang="en-IN" dirty="0"/>
              <a:t>, In-patient management</a:t>
            </a:r>
            <a:endParaRPr dirty="0"/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Billing: Multi-type invoices (Services, Medicines, Misc) with GST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Payments: Cash, Card, UPI, Advance payments, and settlement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Loyalty: Points accumulation, tier progression, promotional discounts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Multi-App Ecosystem - Self Service &amp;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6400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Patient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57400"/>
            <a:ext cx="3657600" cy="3770745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3383280" cy="3559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 b="1">
                <a:solidFill>
                  <a:srgbClr val="4CAF50"/>
                </a:solidFill>
              </a:defRPr>
            </a:pPr>
            <a:r>
              <a:rPr sz="1600"/>
              <a:t>Self-Service Appointments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rPr sz="1200"/>
              <a:t>• Book consultations online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rPr sz="1200"/>
              <a:t>• Schedule procedures/treatments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rPr sz="1200"/>
              <a:t>• View &amp; reschedule bookings</a:t>
            </a:r>
          </a:p>
          <a:p>
            <a:pPr>
              <a:spcAft>
                <a:spcPts val="400"/>
              </a:spcAft>
            </a:pPr>
            <a:endParaRPr sz="2800"/>
          </a:p>
          <a:p>
            <a:pPr>
              <a:spcBef>
                <a:spcPts val="400"/>
              </a:spcBef>
              <a:defRPr sz="1100" b="1">
                <a:solidFill>
                  <a:srgbClr val="4CAF50"/>
                </a:solidFill>
              </a:defRPr>
            </a:pPr>
            <a:r>
              <a:rPr sz="1600"/>
              <a:t>Health Records (EMR)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rPr sz="1200"/>
              <a:t>• Access medical history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rPr sz="1200"/>
              <a:t>• View prescriptions &amp; reports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rPr sz="1200"/>
              <a:t>• Download invoices &amp; receipts</a:t>
            </a:r>
          </a:p>
          <a:p>
            <a:pPr>
              <a:spcAft>
                <a:spcPts val="400"/>
              </a:spcAft>
            </a:pPr>
            <a:endParaRPr sz="2800"/>
          </a:p>
          <a:p>
            <a:pPr>
              <a:spcBef>
                <a:spcPts val="400"/>
              </a:spcBef>
              <a:defRPr sz="1100" b="1">
                <a:solidFill>
                  <a:srgbClr val="4CAF50"/>
                </a:solidFill>
              </a:defRPr>
            </a:pPr>
            <a:r>
              <a:rPr sz="1600"/>
              <a:t>Payments &amp; Loyalty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rPr sz="1200"/>
              <a:t>• Pay bills online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rPr sz="1200"/>
              <a:t>• Track loyalty points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rPr sz="1200"/>
              <a:t>• View promotion offers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657600" cy="64008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14630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Doctor 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057400"/>
            <a:ext cx="3657600" cy="3770745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4434840" y="2148840"/>
            <a:ext cx="3383280" cy="3559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 b="1">
                <a:solidFill>
                  <a:srgbClr val="2196F3"/>
                </a:solidFill>
              </a:defRPr>
            </a:pPr>
            <a:r>
              <a:rPr sz="1600"/>
              <a:t>Clinical Workflow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rPr sz="1200"/>
              <a:t>• View daily appointments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rPr sz="1200"/>
              <a:t>• Patient queue management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rPr sz="1200"/>
              <a:t>• Access patient EMR history</a:t>
            </a:r>
          </a:p>
          <a:p>
            <a:pPr>
              <a:spcAft>
                <a:spcPts val="400"/>
              </a:spcAft>
            </a:pPr>
            <a:endParaRPr sz="2800"/>
          </a:p>
          <a:p>
            <a:pPr>
              <a:spcBef>
                <a:spcPts val="400"/>
              </a:spcBef>
              <a:defRPr sz="1100" b="1">
                <a:solidFill>
                  <a:srgbClr val="2196F3"/>
                </a:solidFill>
              </a:defRPr>
            </a:pPr>
            <a:r>
              <a:rPr sz="1600"/>
              <a:t>Consultation &amp; EMR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rPr sz="1200"/>
              <a:t>• Record vitals &amp; complaints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rPr sz="1200"/>
              <a:t>• Voice-enabled note taking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rPr sz="1200"/>
              <a:t>• Digital prescriptions</a:t>
            </a:r>
          </a:p>
          <a:p>
            <a:pPr>
              <a:spcAft>
                <a:spcPts val="400"/>
              </a:spcAft>
            </a:pPr>
            <a:endParaRPr sz="2800"/>
          </a:p>
          <a:p>
            <a:pPr>
              <a:spcBef>
                <a:spcPts val="400"/>
              </a:spcBef>
              <a:defRPr sz="1100" b="1">
                <a:solidFill>
                  <a:srgbClr val="2196F3"/>
                </a:solidFill>
              </a:defRPr>
            </a:pPr>
            <a:r>
              <a:rPr sz="1600"/>
              <a:t>Approvals &amp; Reviews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rPr sz="1200"/>
              <a:t>• Approve treatment plans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rPr sz="1200"/>
              <a:t>• Review lab results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rPr sz="1200"/>
              <a:t>• Authorize procedures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657600" cy="6400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4630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Staff 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057400"/>
            <a:ext cx="3657600" cy="3770745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8275320" y="2148840"/>
            <a:ext cx="3383280" cy="3559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 b="1">
                <a:solidFill>
                  <a:srgbClr val="FF9800"/>
                </a:solidFill>
              </a:defRPr>
            </a:pPr>
            <a:r>
              <a:rPr sz="1600"/>
              <a:t>Front Desk Operations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rPr sz="1200"/>
              <a:t>• Check-in patients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rPr sz="1200"/>
              <a:t>• Manage walk-ins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rPr sz="1200"/>
              <a:t>• Payment collection</a:t>
            </a:r>
          </a:p>
          <a:p>
            <a:pPr>
              <a:spcAft>
                <a:spcPts val="400"/>
              </a:spcAft>
            </a:pPr>
            <a:endParaRPr sz="2800"/>
          </a:p>
          <a:p>
            <a:pPr>
              <a:spcBef>
                <a:spcPts val="400"/>
              </a:spcBef>
              <a:defRPr sz="1100" b="1">
                <a:solidFill>
                  <a:srgbClr val="FF9800"/>
                </a:solidFill>
              </a:defRPr>
            </a:pPr>
            <a:r>
              <a:rPr sz="1600"/>
              <a:t>Inventory &amp; Billing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rPr sz="1200"/>
              <a:t>• Stock verification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rPr sz="1200"/>
              <a:t>• Generate invoices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rPr sz="1200"/>
              <a:t>• Apply discounts/promos</a:t>
            </a:r>
          </a:p>
          <a:p>
            <a:pPr>
              <a:spcAft>
                <a:spcPts val="400"/>
              </a:spcAft>
            </a:pPr>
            <a:endParaRPr sz="2800"/>
          </a:p>
          <a:p>
            <a:pPr>
              <a:spcBef>
                <a:spcPts val="400"/>
              </a:spcBef>
              <a:defRPr sz="1100" b="1">
                <a:solidFill>
                  <a:srgbClr val="FF9800"/>
                </a:solidFill>
              </a:defRPr>
            </a:pPr>
            <a:r>
              <a:rPr sz="1600"/>
              <a:t>Workflow &amp; Approvals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rPr sz="1200"/>
              <a:t>• Request manager approvals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rPr sz="1200"/>
              <a:t>• Process refunds/credits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rPr sz="1200"/>
              <a:t>• Handle escalations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Business Insights &amp; Analytics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22860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P&amp;L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DCDC"/>
                </a:solidFill>
              </a:defRPr>
            </a:pPr>
            <a:r>
              <a:t>Financial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• Revenue by service category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Cost center tracking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Gross margin analysis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Month-over-month trends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371600"/>
            <a:ext cx="3474720" cy="22860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51960" y="14630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Service Profitability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7830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DCDC"/>
                </a:solidFill>
              </a:defRPr>
            </a:pPr>
            <a:r>
              <a:t>Service-wise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21031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• Revenue per service type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Cost per procedure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Therapist productivity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Package vs individual sales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371600"/>
            <a:ext cx="3474720" cy="228600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9560" y="14630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Cash Flow 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17830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DCDC"/>
                </a:solidFill>
              </a:defRPr>
            </a:pPr>
            <a:r>
              <a:t>Treasury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1031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• Daily cash position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Receivables aging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Payment forecasting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Branch-wise cash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3474720" cy="22860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Inventory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519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DCDC"/>
                </a:solidFill>
              </a:defRPr>
            </a:pPr>
            <a:r>
              <a:t>Stock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5720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• Stock turnover ratio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Expiry alerts &amp; wastage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Reorder optimization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Supplier performance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3840480"/>
            <a:ext cx="3474720" cy="228600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51960" y="3931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Patient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42519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DCDC"/>
                </a:solidFill>
              </a:defRPr>
            </a:pPr>
            <a:r>
              <a:t>Customer Insights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5720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• Patient lifetime value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Visit frequency analysis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Treatment preferences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Churn risk scoring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3840480"/>
            <a:ext cx="3474720" cy="22860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09560" y="3931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Campaign &amp; Product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42519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DCDC"/>
                </a:solidFill>
              </a:defRPr>
            </a:pPr>
            <a:r>
              <a:t>Marketing ROI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45720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• Campaign effectiveness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Discount impact analysis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Product profitability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Promotion conversion rates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Real-time dashboards with drill-down capabilities | Export to Excel/PDF | Scheduled email reports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Billing &amp; Financial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Invoice Types: Services, Prescription Drugs, OTC/Cosmetics, Miscellaneous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GST Compliance: Automatic CGST/SGST/IGST calculation based on state codes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Multiple Payment Methods: Cash, Credit Card, Debit Card, UPI supported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Advance Payment System: Patient deposits with automatic invoice allocation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Discount Framework: Campaign, Bulk, Loyalty, VIP with configurable stacking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Credit Notes: Full and partial refunds with GL integration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Chart of Accounts: Complete double-entry accounting system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Promotions &amp; Discounts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Campaign Management: Time-bound promotions with approval workflow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Discount Types: Percentage, Fixed Amount, Buy X Get Y Free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Stacking Configuration: Exclusive, Incremental, Absolute modes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Patient Targeting: VIP-specific, loyalty tier-based, personalized offers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Campaign Groups: Organize related campaigns for easy management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Timeline Visualization: Visual campaign planning with holiday awareness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Simulation Tool: Preview discount impact before applying to invoices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418320" cy="914400"/>
          </a:xfrm>
          <a:prstGeom prst="roundRect">
            <a:avLst/>
          </a:prstGeom>
          <a:solidFill>
            <a:srgbClr val="009999"/>
          </a:solidFill>
          <a:ln w="254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54480" y="1508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Presentation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0876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6FAFF"/>
                </a:solidFill>
              </a:defRPr>
            </a:pPr>
            <a:r>
              <a:t>HTML/CSS/JavaScript, Jinja2 Templates, TailwindCSS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468880"/>
            <a:ext cx="9418320" cy="914400"/>
          </a:xfrm>
          <a:prstGeom prst="roundRect">
            <a:avLst/>
          </a:prstGeom>
          <a:solidFill>
            <a:srgbClr val="009999"/>
          </a:solidFill>
          <a:ln w="254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54480" y="2606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Application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60604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6FAFF"/>
                </a:solidFill>
              </a:defRPr>
            </a:pPr>
            <a:r>
              <a:t>Flask Framework, Views, API Routes, Services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566160"/>
            <a:ext cx="9418320" cy="914400"/>
          </a:xfrm>
          <a:prstGeom prst="roundRect">
            <a:avLst/>
          </a:prstGeom>
          <a:solidFill>
            <a:srgbClr val="009999"/>
          </a:solidFill>
          <a:ln w="254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0" y="3703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Business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70332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6FAFF"/>
                </a:solidFill>
              </a:defRPr>
            </a:pPr>
            <a:r>
              <a:t>Universal Engine, RBAC, Discount Service, Billing 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663440"/>
            <a:ext cx="9418320" cy="914400"/>
          </a:xfrm>
          <a:prstGeom prst="roundRect">
            <a:avLst/>
          </a:prstGeom>
          <a:solidFill>
            <a:srgbClr val="009999"/>
          </a:solidFill>
          <a:ln w="254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54480" y="4800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Data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80060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6FAFF"/>
                </a:solidFill>
              </a:defRPr>
            </a:pPr>
            <a:r>
              <a:t>SQLAlchemy ORM, Database Service, Repositories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5760720"/>
            <a:ext cx="9418320" cy="914400"/>
          </a:xfrm>
          <a:prstGeom prst="roundRect">
            <a:avLst/>
          </a:prstGeom>
          <a:solidFill>
            <a:srgbClr val="009999"/>
          </a:solidFill>
          <a:ln w="254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54480" y="5897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589788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6FAFF"/>
                </a:solidFill>
              </a:defRPr>
            </a:pPr>
            <a:r>
              <a:t>PostgreSQL with JSONB support, Redis Cache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Multi-Tenant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1097280"/>
          </a:xfrm>
          <a:prstGeom prst="roundRect">
            <a:avLst/>
          </a:prstGeom>
          <a:solidFill>
            <a:srgbClr val="006699"/>
          </a:solidFill>
          <a:ln w="38100">
            <a:solidFill>
              <a:srgbClr val="00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HOSPITAL LEVEL (Tenant Isolation)</a:t>
            </a:r>
          </a:p>
          <a:p>
            <a:pPr>
              <a:defRPr sz="1400">
                <a:solidFill>
                  <a:srgbClr val="C8E6F0"/>
                </a:solidFill>
              </a:defRPr>
            </a:pPr>
            <a:r>
              <a:t>Complete data isolation | Separate configurations | Independent GL accounts | Custom branding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51760"/>
            <a:ext cx="3566160" cy="2011680"/>
          </a:xfrm>
          <a:prstGeom prst="roundRect">
            <a:avLst/>
          </a:prstGeom>
          <a:solidFill>
            <a:srgbClr val="008282"/>
          </a:solidFill>
          <a:ln w="254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Branch 1: Main Clinic</a:t>
            </a:r>
          </a:p>
          <a:p>
            <a:pPr>
              <a:defRPr sz="1200">
                <a:solidFill>
                  <a:srgbClr val="E6FAFF"/>
                </a:solidFill>
              </a:defRPr>
            </a:pPr>
            <a:r>
              <a:t>Users: 15 | Patients: 2,500</a:t>
            </a:r>
          </a:p>
          <a:p>
            <a:pPr>
              <a:defRPr sz="1100">
                <a:solidFill>
                  <a:srgbClr val="E6FAFF"/>
                </a:solidFill>
              </a:defRPr>
            </a:pPr>
            <a:r>
              <a:t>Branch-specific: Inventory, Staff, Appointments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651760"/>
            <a:ext cx="3566160" cy="2011680"/>
          </a:xfrm>
          <a:prstGeom prst="roundRect">
            <a:avLst/>
          </a:prstGeom>
          <a:solidFill>
            <a:srgbClr val="009696"/>
          </a:solidFill>
          <a:ln w="254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27432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Branch 2: City Center</a:t>
            </a:r>
          </a:p>
          <a:p>
            <a:pPr>
              <a:defRPr sz="1200">
                <a:solidFill>
                  <a:srgbClr val="E6FAFF"/>
                </a:solidFill>
              </a:defRPr>
            </a:pPr>
            <a:r>
              <a:t>Users: 8 | Patients: 1,200</a:t>
            </a:r>
          </a:p>
          <a:p>
            <a:pPr>
              <a:defRPr sz="1100">
                <a:solidFill>
                  <a:srgbClr val="E6FAFF"/>
                </a:solidFill>
              </a:defRPr>
            </a:pPr>
            <a:r>
              <a:t>Branch-specific: Inventory, Staff, Appointments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2651760"/>
            <a:ext cx="3566160" cy="2011680"/>
          </a:xfrm>
          <a:prstGeom prst="roundRect">
            <a:avLst/>
          </a:prstGeom>
          <a:solidFill>
            <a:srgbClr val="00AAAA"/>
          </a:solidFill>
          <a:ln w="254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9" y="27432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Branch 3: Mall Outlet</a:t>
            </a:r>
          </a:p>
          <a:p>
            <a:pPr>
              <a:defRPr sz="1200">
                <a:solidFill>
                  <a:srgbClr val="E6FAFF"/>
                </a:solidFill>
              </a:defRPr>
            </a:pPr>
            <a:r>
              <a:t>Users: 5 | Patients: 800</a:t>
            </a:r>
          </a:p>
          <a:p>
            <a:pPr>
              <a:defRPr sz="1100">
                <a:solidFill>
                  <a:srgbClr val="E6FAFF"/>
                </a:solidFill>
              </a:defRPr>
            </a:pPr>
            <a:r>
              <a:t>Branch-specific: Inventory, Staff, Appointments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463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Key Capabilities: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Hospital-level: Shared masters (Services, Medicines, Suppliers), Consolidated reports, Central configuration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Branch-level: Independent inventory, Local staff assignments, Branch-specific promotions, Separate cash registers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Cross-branch: Patient records accessible across branches, Inter-branch transfers, Unified loyalty program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Backend: Python 3.13 with Flask 3.1 web framework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Database: PostgreSQL with JSONB for flexible data structures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ORM: SQLAlchemy 2.0 with Alembic migrations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Caching: Redis for session management and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Frontend: Jinja2 templates with TailwindCSS styling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Security: Cryptography library, PyJWT for tokens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PDF Generation: ReportLab for invoices and reports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Testing: Pytest with comprehensive test coverage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Universal Engine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2836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Problem: Traditional development requires 18+ hours per new module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Solution: Configuration-driven architecture with reusable components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Result: New entities can be added in 30 minutes (90% reduction)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Features: Auto-generated list views, search, pagination, </a:t>
            </a:r>
            <a:r>
              <a:rPr lang="en-IN" dirty="0"/>
              <a:t>CRUD, printing, cache handling, </a:t>
            </a:r>
            <a:r>
              <a:rPr dirty="0"/>
              <a:t>export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Benefits: Consistent UI, reduced bugs, easier maintenance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Status: Successfully deployed for Supplier Payments, ready for all entities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Security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Role-Based Access Control: Granular permissions for all operations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Branch-Level Security: Users see only their assigned branch data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Hospital Isolation: Complete data separation in multi-tenant setup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Field Encryption: Sensitive patient data encrypted at rest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Audit Trails: Complete logging of who created/modified records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Session Management: Redis-based secure session handling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CSRF Protection: All forms protected against cross-site attacks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External System Integrations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External System Integrations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2743200"/>
            <a:ext cx="3017520" cy="1371600"/>
          </a:xfrm>
          <a:prstGeom prst="roundRect">
            <a:avLst/>
          </a:prstGeom>
          <a:solidFill>
            <a:srgbClr val="006699"/>
          </a:solidFill>
          <a:ln w="38100">
            <a:solidFill>
              <a:srgbClr val="00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663440" y="3017520"/>
            <a:ext cx="2834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SkinSpire HMS</a:t>
            </a:r>
          </a:p>
          <a:p>
            <a:pPr algn="ctr">
              <a:defRPr sz="1400">
                <a:solidFill>
                  <a:srgbClr val="C8E6F0"/>
                </a:solidFill>
              </a:defRPr>
            </a:pPr>
            <a:r>
              <a:t>Core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71600"/>
            <a:ext cx="2560320" cy="1188720"/>
          </a:xfrm>
          <a:prstGeom prst="roundRect">
            <a:avLst/>
          </a:prstGeom>
          <a:solidFill>
            <a:srgbClr val="00AFF0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Paytm EDC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Payment Gateway</a:t>
            </a:r>
            <a:br/>
            <a:r>
              <a:t>Card, UPI, QR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371600"/>
            <a:ext cx="2560320" cy="1188720"/>
          </a:xfrm>
          <a:prstGeom prst="roundRect">
            <a:avLst/>
          </a:prstGeom>
          <a:solidFill>
            <a:srgbClr val="FF6600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2560" y="15087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ICICI Bank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Corporate Banking</a:t>
            </a:r>
            <a:br/>
            <a:r>
              <a:t>Auto Reconciliation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389120"/>
            <a:ext cx="2560320" cy="1188720"/>
          </a:xfrm>
          <a:prstGeom prst="roundRect">
            <a:avLst/>
          </a:prstGeom>
          <a:solidFill>
            <a:srgbClr val="4CAF50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5262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Material Scanner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Barcode/QR</a:t>
            </a:r>
            <a:br/>
            <a:r>
              <a:t>Inventory Mgmt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4389120"/>
            <a:ext cx="2560320" cy="1188720"/>
          </a:xfrm>
          <a:prstGeom prst="roundRect">
            <a:avLst/>
          </a:prstGeom>
          <a:solidFill>
            <a:srgbClr val="9C27B0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2560" y="45262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Voice Assistant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AI Documentation</a:t>
            </a:r>
            <a:br/>
            <a:r>
              <a:t>Hands-free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All integrations use secure REST APIs with OAuth 2.0 authentication and end-to-end encryption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Paytm EDC Payment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Unified Payment Processing: Single device for Cards, UPI, and QR payments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Real-time Transaction Sync: Automatic invoice status updates on payment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Multi-terminal Support: Multiple EDC devices per branch with central tracking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Settlement Reports: Daily reconciliation with transaction-level details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Refund Processing: Seamless refund initiation from credit notes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Offline Mode: Store-and-forward for network interruptions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PCI-DSS Compliant: Secure card data handling without local storage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ICICI Bank Corporate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Account Statement Sync: Automated daily/weekly bank statement import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Payment Reconciliation: Auto-match incoming payments with invoices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Supplier Payments: Direct bank transfer for vendor settlements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Cash Management: Real-time cash position across all branches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Bulk Payments: Process multiple supplier payments in single batch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MIS Reports: Bank transaction analysis and cash flow reporting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API Security: Bank-grade encryption with certificate authentication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Material Scanner &amp;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Barcode Scanning: Fast product lookup during billing and receiving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QR Code Support: Track batches and expiry with 2D codes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Stock Taking: Rapid physical inventory verification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Goods Receiving: Scan-based verification of supplier deliveries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Medicine Dispensing: Verify correct items during pharmacy billing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Hardware Support: Compatible with handheld and fixed scanners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Batch Tracking: Full traceability from receipt to sale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Voice Assistant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Hands-free Documentation: Record consultations without typing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Patient History: Voice capture of complaints, symptoms, allergies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Prescription Dictation: Speak medication orders for auto-conversion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Multi-language: Support for English, Hindi, and regional languages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Context Awareness: Understand medical terminology and drug names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Privacy Controls: On-premise processing option for sensitive data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Integration: Direct flow into consultation notes and prescriptions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AI-Powered Future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AI-Powered Features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3840480"/>
          </a:xfrm>
          <a:prstGeom prst="roundRect">
            <a:avLst/>
          </a:prstGeom>
          <a:solidFill>
            <a:srgbClr val="9C27B0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3200400" cy="1795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2400"/>
              <a:t>Voice Assistant</a:t>
            </a:r>
          </a:p>
          <a:p>
            <a:pPr>
              <a:spcAft>
                <a:spcPts val="800"/>
              </a:spcAft>
              <a:defRPr sz="1300">
                <a:solidFill>
                  <a:srgbClr val="E6FAFF"/>
                </a:solidFill>
              </a:defRPr>
            </a:pPr>
            <a:r>
              <a:rPr sz="1600"/>
              <a:t>Clinical Documentation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rPr sz="1600"/>
              <a:t>• Record patient history hands-free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rPr sz="1600"/>
              <a:t>• Voice-to-prescription conversion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rPr sz="1600"/>
              <a:t>• Automated consultation notes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rPr sz="1600"/>
              <a:t>• Multi-language support (EN/HI)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371600"/>
            <a:ext cx="3474720" cy="3840480"/>
          </a:xfrm>
          <a:prstGeom prst="roundRect">
            <a:avLst/>
          </a:prstGeom>
          <a:solidFill>
            <a:srgbClr val="3F51B5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4251960" y="1463040"/>
            <a:ext cx="3200400" cy="1795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2400"/>
              <a:t>Smart Reconciliation</a:t>
            </a:r>
          </a:p>
          <a:p>
            <a:pPr>
              <a:spcAft>
                <a:spcPts val="800"/>
              </a:spcAft>
              <a:defRPr sz="1300">
                <a:solidFill>
                  <a:srgbClr val="E6FAFF"/>
                </a:solidFill>
              </a:defRPr>
            </a:pPr>
            <a:r>
              <a:rPr sz="1600"/>
              <a:t>Account Management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rPr sz="1600"/>
              <a:t>• Auto-match bank transactions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rPr sz="1600"/>
              <a:t>• Identify payment discrepancies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rPr sz="1600"/>
              <a:t>• Suggest GL postings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rPr sz="1600"/>
              <a:t>• Anomaly detection alerts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71600"/>
            <a:ext cx="3474720" cy="3840480"/>
          </a:xfrm>
          <a:prstGeom prst="roundRect">
            <a:avLst/>
          </a:prstGeom>
          <a:solidFill>
            <a:srgbClr val="009688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7909560" y="1463040"/>
            <a:ext cx="3200400" cy="1795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2400"/>
              <a:t>Analytics Engine</a:t>
            </a:r>
          </a:p>
          <a:p>
            <a:pPr>
              <a:spcAft>
                <a:spcPts val="800"/>
              </a:spcAft>
              <a:defRPr sz="1300">
                <a:solidFill>
                  <a:srgbClr val="E6FAFF"/>
                </a:solidFill>
              </a:defRPr>
            </a:pPr>
            <a:r>
              <a:rPr sz="1600"/>
              <a:t>Business Intelligence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rPr sz="1600"/>
              <a:t>• Promotion effectiveness scoring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rPr sz="1600"/>
              <a:t>• Patient churn prediction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rPr sz="1600"/>
              <a:t>• Inventory demand forecasting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rPr sz="1600"/>
              <a:t>• Revenue optimization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Implementation Timeline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Q1 2026: Voice Assistant Beta | Q2 2026: Smart Reconciliation | Q3 2026: Predictive Analytics | Q4 2026: Full AI Suite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Use Cases in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33333"/>
                </a:solidFill>
              </a:defRPr>
            </a:pPr>
            <a:r>
              <a:t>• Account Reconciliation AI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Automatically match bank credits to patient payments using amount, date, and reference patterns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Flag unusual transactions for manual review with confidence scores</a:t>
            </a:r>
          </a:p>
          <a:p>
            <a:pPr>
              <a:spcAft>
                <a:spcPts val="1400"/>
              </a:spcAft>
              <a:defRPr sz="2000" b="1">
                <a:solidFill>
                  <a:srgbClr val="333333"/>
                </a:solidFill>
              </a:defRPr>
            </a:pPr>
            <a:r>
              <a:t>• Voice-to-EMR Conversion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Convert doctor's verbal notes into structured EMR entries (complaints, diagnosis, treatment)</a:t>
            </a:r>
          </a:p>
          <a:p>
            <a:pPr>
              <a:spcAft>
                <a:spcPts val="1400"/>
              </a:spcAft>
              <a:defRPr sz="2000" b="1">
                <a:solidFill>
                  <a:srgbClr val="333333"/>
                </a:solidFill>
              </a:defRPr>
            </a:pPr>
            <a:r>
              <a:t>• Promotion Effectiveness AI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Analyze campaign performance, predict ROI, recommend optimal discount structures</a:t>
            </a:r>
          </a:p>
          <a:p>
            <a:pPr>
              <a:spcAft>
                <a:spcPts val="1400"/>
              </a:spcAft>
              <a:defRPr sz="2000" b="1">
                <a:solidFill>
                  <a:srgbClr val="333333"/>
                </a:solidFill>
              </a:defRPr>
            </a:pPr>
            <a:r>
              <a:t>• Inventory Intelligence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Predict stock requirements based on historical patterns and upcoming appointments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Project Achievements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Completed Features (100%)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3035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Core Patient Management with document storage</a:t>
            </a:r>
            <a:r>
              <a:rPr lang="en-IN" dirty="0"/>
              <a:t> (WIP)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Complete Billing workflow with GST compliance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Multi-method Payment Processing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Advance Payment and Settlement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Full Inventory and Purchase Order Management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Supplier Invoice and Payment workflows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Comprehensive Promotions and Discounts module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Universal View Engine for rapid development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RBAC with multi-branch support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Quality &amp; Architecture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33333"/>
                </a:solidFill>
              </a:defRPr>
            </a:pPr>
            <a:r>
              <a:t>• Enterprise-Grade Architecture: A+ Rating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Separation of Concerns with clear layer boundaries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Configuration-driven behavior minimizing code changes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Comprehensive error handling with graceful fallbacks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Zero code duplication through Universal Engine</a:t>
            </a:r>
          </a:p>
          <a:p>
            <a:pPr>
              <a:spcAft>
                <a:spcPts val="1400"/>
              </a:spcAft>
              <a:defRPr sz="2000" b="1">
                <a:solidFill>
                  <a:srgbClr val="333333"/>
                </a:solidFill>
              </a:defRPr>
            </a:pPr>
            <a:r>
              <a:t>• Backward Compatibility: 100%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All existing functionality preserved during enhancements</a:t>
            </a:r>
          </a:p>
          <a:p>
            <a:pPr>
              <a:spcAft>
                <a:spcPts val="1400"/>
              </a:spcAft>
              <a:defRPr sz="2000" b="1">
                <a:solidFill>
                  <a:srgbClr val="333333"/>
                </a:solidFill>
              </a:defRPr>
            </a:pPr>
            <a:r>
              <a:t>• Production Readiness: Immediate Deployment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Roadmap &amp; Next Steps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Recommended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Phase 1: Complete Reports &amp; Analytics dashboard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Phase 2: Implement EDC/Payment Gateway integration (Paytm)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Phase 3: Build RBAC Administration Interface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Phase 4: Add Email/SMS Notification System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Phase 5: Develop Patient Portal for self-service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Phase 6: EMR/EHR Integration foundation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Phase 7: Insurance claim processing module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Areas Requiring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User Training: Staff onboarding and documentation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Data Migration: If replacing existing systems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Infrastructure: Production server setup and security hardening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Testing: User Acceptance Testing (UAT) with real scenarios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Support: Helpdesk setup and issue tracking process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Compliance: HIPAA/local healthcare regulation audit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Backup: Disaster recovery and business continuity planning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lang="en-IN" dirty="0"/>
              <a:t>Intelli -Clinic</a:t>
            </a:r>
            <a:r>
              <a:rPr dirty="0"/>
              <a:t> </a:t>
            </a:r>
            <a:r>
              <a:rPr lang="en-IN" dirty="0"/>
              <a:t>will be </a:t>
            </a:r>
            <a:r>
              <a:rPr dirty="0"/>
              <a:t>production-ready </a:t>
            </a:r>
            <a:r>
              <a:rPr lang="en-IN" dirty="0"/>
              <a:t> by end of 2025 </a:t>
            </a:r>
            <a:r>
              <a:rPr dirty="0"/>
              <a:t>for mid-size </a:t>
            </a:r>
            <a:r>
              <a:rPr lang="en-IN" dirty="0"/>
              <a:t>Hospitals &amp; </a:t>
            </a:r>
            <a:r>
              <a:rPr dirty="0"/>
              <a:t>clinics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Comprehensive coverage of patient, billing, and inventory workflows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Enterprise-grade security with RBAC and audit compliance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Innovative Universal Engine for rapid future development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Flexible promotions system to drive patient engagement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Strong foundation for growth: multi-branch, multi-hospital ready</a:t>
            </a:r>
          </a:p>
          <a:p>
            <a:pPr>
              <a:spcAft>
                <a:spcPts val="1400"/>
              </a:spcAft>
              <a:defRPr sz="2000" b="1">
                <a:solidFill>
                  <a:srgbClr val="333333"/>
                </a:solidFill>
              </a:defRPr>
            </a:pPr>
            <a:r>
              <a:rPr dirty="0"/>
              <a:t>• Ready to transform clinic operations!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72685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dirty="0"/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5586" y="4468548"/>
            <a:ext cx="6670352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E6F0"/>
                </a:solidFill>
              </a:defRPr>
            </a:pPr>
            <a:r>
              <a:rPr dirty="0"/>
              <a:t>Questions &amp; Discussion</a:t>
            </a:r>
            <a:br>
              <a:rPr dirty="0"/>
            </a:br>
            <a:br>
              <a:rPr dirty="0"/>
            </a:br>
            <a:r>
              <a:rPr lang="en-IN" dirty="0"/>
              <a:t>Intelli -Clinic</a:t>
            </a:r>
            <a:r>
              <a:rPr dirty="0"/>
              <a:t> - Built for Healthcare Excellence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20FE6F-16DA-B56B-0237-3B5EFCAC5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603" y="60031"/>
            <a:ext cx="9768397" cy="30526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2410</Words>
  <Application>Microsoft Office PowerPoint</Application>
  <PresentationFormat>Widescreen</PresentationFormat>
  <Paragraphs>373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Vinod Kumar</cp:lastModifiedBy>
  <cp:revision>14</cp:revision>
  <dcterms:created xsi:type="dcterms:W3CDTF">2013-01-27T09:14:16Z</dcterms:created>
  <dcterms:modified xsi:type="dcterms:W3CDTF">2025-11-29T13:20:25Z</dcterms:modified>
  <cp:category/>
</cp:coreProperties>
</file>