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82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Lakhs)</c:v>
                </c:pt>
              </c:strCache>
            </c:strRef>
          </c:tx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11.10615</c:v>
                </c:pt>
                <c:pt idx="1">
                  <c:v>6.2977999999999996</c:v>
                </c:pt>
                <c:pt idx="2">
                  <c:v>9.6258099999999995</c:v>
                </c:pt>
                <c:pt idx="3">
                  <c:v>7.8344800000000001</c:v>
                </c:pt>
                <c:pt idx="4">
                  <c:v>8.5520399999999999</c:v>
                </c:pt>
                <c:pt idx="5">
                  <c:v>9.65456</c:v>
                </c:pt>
                <c:pt idx="6">
                  <c:v>13.475440000000001</c:v>
                </c:pt>
                <c:pt idx="7">
                  <c:v>12.43094</c:v>
                </c:pt>
                <c:pt idx="8">
                  <c:v>7.9610500000000002</c:v>
                </c:pt>
                <c:pt idx="9">
                  <c:v>7.0144500000000001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194-4B8B-B261-1BA6BAC7EF7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Gross Profit (₹L)</c:v>
                </c:pt>
              </c:strCache>
            </c:strRef>
          </c:tx>
          <c:invertIfNegative val="1"/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5.6384699999999999</c:v>
                </c:pt>
                <c:pt idx="1">
                  <c:v>1.8970400000000001</c:v>
                </c:pt>
                <c:pt idx="2">
                  <c:v>4.2893299999999996</c:v>
                </c:pt>
                <c:pt idx="3">
                  <c:v>4.5716999999999999</c:v>
                </c:pt>
                <c:pt idx="4">
                  <c:v>3.9924599999999999</c:v>
                </c:pt>
                <c:pt idx="5">
                  <c:v>4.6246600000000004</c:v>
                </c:pt>
                <c:pt idx="6">
                  <c:v>10.774419999999999</c:v>
                </c:pt>
                <c:pt idx="7">
                  <c:v>7.5319099999999999</c:v>
                </c:pt>
                <c:pt idx="8">
                  <c:v>1.02905</c:v>
                </c:pt>
                <c:pt idx="9">
                  <c:v>2.76647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12-401A-89FC-7BECE15A2D4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Profit (₹L)</c:v>
                </c:pt>
              </c:strCache>
            </c:strRef>
          </c:tx>
          <c:invertIfNegative val="1"/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3.8590100000000001</c:v>
                </c:pt>
                <c:pt idx="1">
                  <c:v>-2.0131899999999998</c:v>
                </c:pt>
                <c:pt idx="2">
                  <c:v>2.5314199999999998</c:v>
                </c:pt>
                <c:pt idx="3">
                  <c:v>2.7061500000000001</c:v>
                </c:pt>
                <c:pt idx="4">
                  <c:v>-0.29086000000000001</c:v>
                </c:pt>
                <c:pt idx="5">
                  <c:v>1.9583299999999999</c:v>
                </c:pt>
                <c:pt idx="6">
                  <c:v>9.0836600000000001</c:v>
                </c:pt>
                <c:pt idx="7">
                  <c:v>6.0475300000000001</c:v>
                </c:pt>
                <c:pt idx="8">
                  <c:v>-0.40448000000000001</c:v>
                </c:pt>
                <c:pt idx="9">
                  <c:v>0.84465999999999997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712-401A-89FC-7BECE15A2D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1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 (₹ Lakhs)</c:v>
                </c:pt>
              </c:strCache>
            </c:strRef>
          </c:tx>
          <c:invertIfNegative val="1"/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3.8590100000000001</c:v>
                </c:pt>
                <c:pt idx="1">
                  <c:v>-2.0131899999999998</c:v>
                </c:pt>
                <c:pt idx="2">
                  <c:v>2.5314199999999998</c:v>
                </c:pt>
                <c:pt idx="3">
                  <c:v>2.7061500000000001</c:v>
                </c:pt>
                <c:pt idx="4">
                  <c:v>-0.29086000000000001</c:v>
                </c:pt>
                <c:pt idx="5">
                  <c:v>1.9583299999999999</c:v>
                </c:pt>
                <c:pt idx="6">
                  <c:v>9.0836600000000001</c:v>
                </c:pt>
                <c:pt idx="7">
                  <c:v>6.0475300000000001</c:v>
                </c:pt>
                <c:pt idx="8">
                  <c:v>-0.40448000000000001</c:v>
                </c:pt>
                <c:pt idx="9">
                  <c:v>0.84465999999999997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26-400F-8482-1C663D502A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OpEx %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49.231101686903202</c:v>
                </c:pt>
                <c:pt idx="1">
                  <c:v>69.877735082092158</c:v>
                </c:pt>
                <c:pt idx="2">
                  <c:v>55.439282512328838</c:v>
                </c:pt>
                <c:pt idx="3">
                  <c:v>41.646414312117713</c:v>
                </c:pt>
                <c:pt idx="4">
                  <c:v>53.315700113657094</c:v>
                </c:pt>
                <c:pt idx="5">
                  <c:v>52.098697403092423</c:v>
                </c:pt>
                <c:pt idx="6">
                  <c:v>20.044020826036107</c:v>
                </c:pt>
                <c:pt idx="7">
                  <c:v>39.409972214490615</c:v>
                </c:pt>
                <c:pt idx="8">
                  <c:v>87.073941251468085</c:v>
                </c:pt>
                <c:pt idx="9">
                  <c:v>60.560414572774768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D5A-4EB1-8EEF-DCFA2FDA65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6F89D6-7B10-4856-A235-36AE78152710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D86C9E-517C-420A-B074-BB9735EFDF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973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67FBD3-35FD-9A8B-06FC-84E936674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" y="-1645858"/>
            <a:ext cx="9144000" cy="64651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E6F2FF"/>
                </a:solidFill>
              </a:defRPr>
            </a:pPr>
            <a:r>
              <a:rPr dirty="0"/>
              <a:t>Financial Performance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66CC"/>
                </a:solidFill>
              </a:defRPr>
            </a:pPr>
            <a:r>
              <a:rPr dirty="0"/>
              <a:t>January - 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7F7F7F"/>
                </a:solidFill>
              </a:defRPr>
            </a:pPr>
            <a:r>
              <a:rPr dirty="0"/>
              <a:t>Prepared for: CEO &amp; Management Team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10-Month Performance Overview (Jan-Oct 2025)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01168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TOTAL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₹93.95L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645920"/>
            <a:ext cx="2011680" cy="109728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0" y="17373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GROSS PROFIT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0116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₹47.12L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4231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50.1%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645920"/>
            <a:ext cx="2011680" cy="109728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17373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NET PROFIT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0116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₹16.63L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4231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25.9%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645920"/>
            <a:ext cx="1371600" cy="109728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RATING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0116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B+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4231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Strong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017520"/>
            <a:ext cx="2011680" cy="109728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1089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OPERATING EXPENSE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3832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₹46.84L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7947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49.9%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3017520"/>
            <a:ext cx="2011680" cy="109728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0" y="31089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PROFITABLE MONTHS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33832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5/10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7947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50%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017520"/>
            <a:ext cx="201168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0" y="31089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AVG MONTHLY REVENUE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3832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₹9.40L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37947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Per Month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3017520"/>
            <a:ext cx="1371600" cy="109728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0" y="3108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GP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33832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37947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Margin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389120"/>
            <a:ext cx="8229600" cy="201168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4572000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B050"/>
                </a:solidFill>
              </a:defRPr>
            </a:pPr>
            <a:r>
              <a:t>STRENGTHS:  • 50% Gross Profit Margin  • Positive Overall Cash Flow  • Diversified Revenue Streams</a:t>
            </a:r>
          </a:p>
          <a:p>
            <a:pPr>
              <a:spcAft>
                <a:spcPts val="800"/>
              </a:spcAft>
              <a:defRPr sz="1200" b="1">
                <a:solidFill>
                  <a:srgbClr val="C00000"/>
                </a:solidFill>
              </a:defRPr>
            </a:pPr>
            <a:r>
              <a:t>CONCERNS:  • High Revenue Volatility (114%)  • 3 Loss-Making Months  • September Expense Crisis (87% OpEx)</a:t>
            </a:r>
          </a:p>
          <a:p>
            <a:pPr>
              <a:spcAft>
                <a:spcPts val="800"/>
              </a:spcAft>
              <a:defRPr sz="1200" b="1">
                <a:solidFill>
                  <a:srgbClr val="0066CC"/>
                </a:solidFill>
              </a:defRPr>
            </a:pPr>
            <a:r>
              <a:t>PRIORITY:  • Stabilize Monthly Revenue  • Control Operating Expenses  • Improve Cash Flow Visibility</a:t>
            </a:r>
          </a:p>
        </p:txBody>
      </p:sp>
      <p:sp>
        <p:nvSpPr>
          <p:cNvPr id="39" name="Title 38">
            <a:extLst>
              <a:ext uri="{FF2B5EF4-FFF2-40B4-BE49-F238E27FC236}">
                <a16:creationId xmlns:a16="http://schemas.microsoft.com/office/drawing/2014/main" id="{B7412BCD-6B78-9391-1732-6B3B666E4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D95525D7-9331-E483-87BE-54974111E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A90153AC-F8AB-1BD2-665D-3825E87EE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Revenue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Monthly Breakdown (Jan-Oct 2025)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139869"/>
              </p:ext>
            </p:extLst>
          </p:nvPr>
        </p:nvGraphicFramePr>
        <p:xfrm>
          <a:off x="731520" y="1645920"/>
          <a:ext cx="76809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Month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Revenue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OpEx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Net Profit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NP %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2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1,110,615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546,768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385,901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34.7%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200"/>
                        <a:t>Feb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629,780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440,076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C00000"/>
                          </a:solidFill>
                        </a:defRPr>
                      </a:pPr>
                      <a:r>
                        <a:rPr sz="1200"/>
                        <a:t>-201,319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C00000"/>
                          </a:solidFill>
                        </a:defRPr>
                      </a:pPr>
                      <a:r>
                        <a:rPr sz="1200"/>
                        <a:t>-32.0%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2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962,581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533,648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253,142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26.3%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200"/>
                        <a:t>Apr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783,448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326,278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270,615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34.5%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200"/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855,204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455,958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-59,086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C00000"/>
                          </a:solidFill>
                        </a:defRPr>
                      </a:pPr>
                      <a:r>
                        <a:rPr sz="1200"/>
                        <a:t>-3.4%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200"/>
                        <a:t>Jun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965,456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502,990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195,833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20.3%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200"/>
                        <a:t>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1,347,544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270,102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908,366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67.4%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200"/>
                        <a:t>Aug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1,243,094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489,903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604,753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48.6%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200"/>
                        <a:t>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796,105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693,200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C00000"/>
                          </a:solidFill>
                        </a:defRPr>
                      </a:pPr>
                      <a:r>
                        <a:rPr sz="1200"/>
                        <a:t>-40,448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C00000"/>
                          </a:solidFill>
                        </a:defRPr>
                      </a:pPr>
                      <a:r>
                        <a:rPr sz="1200"/>
                        <a:t>-5.1%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200"/>
                        <a:t>Oct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701,445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424,798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84,466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12.0%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rPr sz="1600"/>
                        <a:t>TOTAL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rPr sz="1600"/>
                        <a:t>9,395,272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rPr sz="1600"/>
                        <a:t>4,683,721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rPr sz="1600"/>
                        <a:t>2,432,223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rPr sz="1600" dirty="0"/>
                        <a:t>25.9%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4D779100-7481-605C-E17A-2FE23E80A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3E9CAC-9A4D-03C7-CC41-93872424C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Revenue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Monthly Performance (Lakhs)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828800"/>
          <a:ext cx="73152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18AACDD-9A9B-C8FA-8ADD-EF9990815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Profitability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Gross Profit vs Net Profit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828800"/>
          <a:ext cx="768096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2B50499-7DF8-6B80-3538-B2DD1A1A5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Net Profit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Monthly Net Profit (Lakhs)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828800"/>
          <a:ext cx="73152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2FA6DFB-3B73-B25C-4E05-DCC2265BE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Operating Expense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OpEx as % of Revenue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828800"/>
          <a:ext cx="73152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0" y="41148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0000"/>
                </a:solidFill>
              </a:defRPr>
            </a:pPr>
            <a:r>
              <a:t>Target: &lt;45%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09BDE8-DBAC-4BA4-283E-2A2E188D5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Cash Flow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Bank vs Cash Collections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2286000" cy="11887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BANK COLLECTIONS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₹71.48L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76.1%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828800"/>
            <a:ext cx="2286000" cy="118872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920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CASH COLLECTIONS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945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₹22.47L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6060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23.9%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828800"/>
            <a:ext cx="2286000" cy="11887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0" y="1920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TOTAL CASH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1945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₹93.95L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6060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291840"/>
            <a:ext cx="7315200" cy="274320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1022465" y="3429000"/>
            <a:ext cx="3549535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/>
            </a:pPr>
            <a:r>
              <a:rPr dirty="0"/>
              <a:t>KEY OBSERVATIONS:</a:t>
            </a:r>
            <a:endParaRPr lang="en-IN" dirty="0"/>
          </a:p>
          <a:p>
            <a:pPr>
              <a:spcAft>
                <a:spcPts val="600"/>
              </a:spcAft>
              <a:defRPr sz="1400" b="1"/>
            </a:pPr>
            <a:endParaRPr dirty="0"/>
          </a:p>
          <a:p>
            <a:pPr>
              <a:spcAft>
                <a:spcPts val="600"/>
              </a:spcAft>
              <a:defRPr sz="1200" b="0"/>
            </a:pPr>
            <a:r>
              <a:rPr dirty="0"/>
              <a:t>• Cash flow positive in 7 out of 10 months (50% resilience)</a:t>
            </a:r>
          </a:p>
          <a:p>
            <a:pPr>
              <a:spcAft>
                <a:spcPts val="600"/>
              </a:spcAft>
              <a:defRPr sz="1200" b="0"/>
            </a:pPr>
            <a:r>
              <a:rPr dirty="0"/>
              <a:t>• Bank flow showed volatility with 4 negative months</a:t>
            </a:r>
          </a:p>
          <a:p>
            <a:pPr>
              <a:spcAft>
                <a:spcPts val="600"/>
              </a:spcAft>
              <a:defRPr sz="1200" b="0"/>
            </a:pPr>
            <a:r>
              <a:rPr dirty="0"/>
              <a:t>• September had the largest bank outflow (-₹3.4L)</a:t>
            </a:r>
          </a:p>
          <a:p>
            <a:pPr>
              <a:spcAft>
                <a:spcPts val="600"/>
              </a:spcAft>
              <a:defRPr sz="1200" b="0"/>
            </a:pPr>
            <a:r>
              <a:rPr dirty="0"/>
              <a:t>• Cash collections remained consistent throughout</a:t>
            </a:r>
          </a:p>
          <a:p>
            <a:pPr>
              <a:spcAft>
                <a:spcPts val="600"/>
              </a:spcAft>
              <a:defRPr sz="1200" b="0"/>
            </a:pPr>
            <a:endParaRPr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1D7C83A-7BD8-BA57-6236-9165CCD4E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D86BA14-5F9A-B2ED-70B3-D5EA62E1D975}"/>
              </a:ext>
            </a:extLst>
          </p:cNvPr>
          <p:cNvSpPr txBox="1"/>
          <p:nvPr/>
        </p:nvSpPr>
        <p:spPr>
          <a:xfrm>
            <a:off x="4511039" y="3163372"/>
            <a:ext cx="3826626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/>
            </a:pPr>
            <a:endParaRPr dirty="0"/>
          </a:p>
          <a:p>
            <a:pPr>
              <a:spcAft>
                <a:spcPts val="600"/>
              </a:spcAft>
              <a:defRPr sz="1400" b="1"/>
            </a:pPr>
            <a:r>
              <a:rPr dirty="0"/>
              <a:t>RECOMMENDATIONS:</a:t>
            </a:r>
            <a:endParaRPr lang="en-IN" dirty="0"/>
          </a:p>
          <a:p>
            <a:pPr>
              <a:spcAft>
                <a:spcPts val="600"/>
              </a:spcAft>
              <a:defRPr sz="1400" b="1"/>
            </a:pPr>
            <a:endParaRPr dirty="0"/>
          </a:p>
          <a:p>
            <a:pPr>
              <a:spcAft>
                <a:spcPts val="600"/>
              </a:spcAft>
              <a:defRPr sz="1200" b="0"/>
            </a:pPr>
            <a:r>
              <a:rPr dirty="0"/>
              <a:t>• Maintain minimum ₹5L bank balance at all times</a:t>
            </a:r>
          </a:p>
          <a:p>
            <a:pPr>
              <a:spcAft>
                <a:spcPts val="600"/>
              </a:spcAft>
              <a:defRPr sz="1200" b="0"/>
            </a:pPr>
            <a:r>
              <a:rPr dirty="0"/>
              <a:t>• Implement 13-week rolling cash forecast</a:t>
            </a:r>
          </a:p>
          <a:p>
            <a:pPr>
              <a:spcAft>
                <a:spcPts val="600"/>
              </a:spcAft>
              <a:defRPr sz="1200" b="0"/>
            </a:pPr>
            <a:r>
              <a:rPr dirty="0"/>
              <a:t>• Improve collection efficiency and payment terms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Financial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Nov-Dec 2025 &amp; Full Year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468880" cy="11887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FULL YEAR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₹1.11 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Jan-Dec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828800"/>
            <a:ext cx="2468880" cy="118872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92024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FULL YEAR PROFIT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945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₹23.25L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60604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20.9% Margin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2011680" cy="1188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9202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PROFITABLE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945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9/12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060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75%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373645"/>
              </p:ext>
            </p:extLst>
          </p:nvPr>
        </p:nvGraphicFramePr>
        <p:xfrm>
          <a:off x="1371600" y="3474720"/>
          <a:ext cx="6400800" cy="2354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Metric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Nov-25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Dec-25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Total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800" dirty="0"/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800"/>
                        <a:t>850,000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800"/>
                        <a:t>900,000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800"/>
                        <a:t>1,750,000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800"/>
                        <a:t>Operating Expenses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800"/>
                        <a:t>425,000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800"/>
                        <a:t>450,000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800"/>
                        <a:t>875,000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100" b="1"/>
                      </a:pPr>
                      <a:r>
                        <a:rPr sz="1800"/>
                        <a:t>Net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rPr sz="1800"/>
                        <a:t>321,000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rPr sz="1800"/>
                        <a:t>341,000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rPr sz="1800" dirty="0"/>
                        <a:t>662,000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BC49FCB2-86A4-3889-AB86-E532980E0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Profit &amp; Loss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Projected Full Year 2025 (Jan-Dec)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2182" y="1508760"/>
            <a:ext cx="6710218" cy="47091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1371600" y="1911927"/>
            <a:ext cx="5946372" cy="378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latin typeface="Courier New"/>
              </a:defRPr>
            </a:pPr>
            <a:r>
              <a:rPr sz="1400" dirty="0">
                <a:latin typeface="Consolas" panose="020B0609020204030204" pitchFamily="49" charset="0"/>
              </a:rPr>
              <a:t>INCOME                   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Consolas" panose="020B0609020204030204" pitchFamily="49" charset="0"/>
              </a:rPr>
              <a:t>  Total Revenue          ₹     11,145,272   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sz="1600" dirty="0">
                <a:latin typeface="Consolas" panose="020B0609020204030204" pitchFamily="49" charset="0"/>
              </a:rPr>
              <a:t>100.0%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Consolas" panose="020B0609020204030204" pitchFamily="49" charset="0"/>
              </a:rPr>
              <a:t>                         </a:t>
            </a:r>
          </a:p>
          <a:p>
            <a:pPr>
              <a:spcAft>
                <a:spcPts val="200"/>
              </a:spcAft>
              <a:defRPr sz="1300" b="1">
                <a:latin typeface="Courier New"/>
              </a:defRPr>
            </a:pPr>
            <a:r>
              <a:rPr sz="1400" dirty="0">
                <a:latin typeface="Consolas" panose="020B0609020204030204" pitchFamily="49" charset="0"/>
              </a:rPr>
              <a:t>COST OF OPERATIONS       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Consolas" panose="020B0609020204030204" pitchFamily="49" charset="0"/>
              </a:rPr>
              <a:t>  Operating Expenses     ₹      5,558,721     49.9%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Consolas" panose="020B0609020204030204" pitchFamily="49" charset="0"/>
              </a:rPr>
              <a:t>                         </a:t>
            </a:r>
          </a:p>
          <a:p>
            <a:pPr>
              <a:spcAft>
                <a:spcPts val="200"/>
              </a:spcAft>
              <a:defRPr sz="1400" b="1">
                <a:solidFill>
                  <a:srgbClr val="00B050"/>
                </a:solidFill>
                <a:latin typeface="Courier New"/>
              </a:defRPr>
            </a:pPr>
            <a:r>
              <a:rPr sz="1600" dirty="0">
                <a:latin typeface="Consolas" panose="020B0609020204030204" pitchFamily="49" charset="0"/>
              </a:rPr>
              <a:t>GROSS PROFIT             ₹      5,586,551     50.1%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Consolas" panose="020B0609020204030204" pitchFamily="49" charset="0"/>
              </a:rPr>
              <a:t>                         </a:t>
            </a:r>
          </a:p>
          <a:p>
            <a:pPr>
              <a:spcAft>
                <a:spcPts val="200"/>
              </a:spcAft>
              <a:defRPr sz="1300" b="1">
                <a:latin typeface="Courier New"/>
              </a:defRPr>
            </a:pPr>
            <a:r>
              <a:rPr sz="1400" dirty="0">
                <a:latin typeface="Consolas" panose="020B0609020204030204" pitchFamily="49" charset="0"/>
              </a:rPr>
              <a:t>OTHER EXPENSES           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Consolas" panose="020B0609020204030204" pitchFamily="49" charset="0"/>
              </a:rPr>
              <a:t>  Capital Expenditure    ₹      1,317,756     11.8%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Consolas" panose="020B0609020204030204" pitchFamily="49" charset="0"/>
              </a:rPr>
              <a:t>  Personal Expenses      ₹      1,136,574     10.2%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Consolas" panose="020B0609020204030204" pitchFamily="49" charset="0"/>
              </a:rPr>
              <a:t>  Loan Interest          ₹        276,365      2.5%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Consolas" panose="020B0609020204030204" pitchFamily="49" charset="0"/>
              </a:rPr>
              <a:t>                         </a:t>
            </a:r>
          </a:p>
          <a:p>
            <a:pPr>
              <a:spcAft>
                <a:spcPts val="200"/>
              </a:spcAft>
              <a:defRPr sz="1400" b="1">
                <a:solidFill>
                  <a:srgbClr val="00B050"/>
                </a:solidFill>
                <a:latin typeface="Courier New"/>
              </a:defRPr>
            </a:pPr>
            <a:r>
              <a:rPr sz="1600" dirty="0">
                <a:latin typeface="Consolas" panose="020B0609020204030204" pitchFamily="49" charset="0"/>
              </a:rPr>
              <a:t>NET PROFIT               ₹      3,094,223     20.9%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939FA0-FCE7-7BE1-2361-9E864B8F9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Balance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As of October 31,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464410" cy="2793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300" b="1">
                <a:latin typeface="Courier New"/>
              </a:defRPr>
            </a:pPr>
            <a:r>
              <a:rPr sz="1400" dirty="0">
                <a:latin typeface="Consolas" panose="020B0609020204030204" pitchFamily="49" charset="0"/>
              </a:rPr>
              <a:t>ASSETS              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endParaRPr lang="en-IN" sz="1200" dirty="0">
              <a:latin typeface="Consolas" panose="020B0609020204030204" pitchFamily="49" charset="0"/>
            </a:endParaRP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endParaRPr lang="en-IN" sz="1200" dirty="0">
              <a:latin typeface="Consolas" panose="020B0609020204030204" pitchFamily="49" charset="0"/>
            </a:endParaRP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Current Assets:     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  Cash in Hand      ₹   2,247,189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  Bank Balance      ₹     954,034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  Inventory         ₹   1,000,000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  Accounts Receivable₹    500,000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                    </a:t>
            </a:r>
          </a:p>
          <a:p>
            <a:pPr>
              <a:spcAft>
                <a:spcPts val="300"/>
              </a:spcAft>
              <a:defRPr sz="1100" b="1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Fixed Assets (Net)  ₹   7,317,756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                    </a:t>
            </a:r>
          </a:p>
          <a:p>
            <a:pPr>
              <a:spcAft>
                <a:spcPts val="300"/>
              </a:spcAft>
              <a:defRPr sz="1300" b="1">
                <a:latin typeface="Courier New"/>
              </a:defRPr>
            </a:pPr>
            <a:r>
              <a:rPr sz="1400" dirty="0">
                <a:latin typeface="Consolas" panose="020B0609020204030204" pitchFamily="49" charset="0"/>
              </a:rPr>
              <a:t>TOTAL ASSETS        ₹  12,018,979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645920"/>
            <a:ext cx="4114800" cy="457200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0" y="1828800"/>
            <a:ext cx="4602542" cy="30469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300" b="1">
                <a:latin typeface="Courier New"/>
              </a:defRPr>
            </a:pPr>
            <a:r>
              <a:rPr sz="1400" dirty="0">
                <a:latin typeface="Consolas" panose="020B0609020204030204" pitchFamily="49" charset="0"/>
              </a:rPr>
              <a:t>LIABILITIES &amp; EQUITY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                    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endParaRPr lang="en-IN" sz="1200" dirty="0">
              <a:latin typeface="Consolas" panose="020B0609020204030204" pitchFamily="49" charset="0"/>
            </a:endParaRP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Total Liabilities   ₹   3,300,000                   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Owner's Equity      ₹   8,718,979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                    </a:t>
            </a:r>
          </a:p>
          <a:p>
            <a:pPr>
              <a:spcAft>
                <a:spcPts val="300"/>
              </a:spcAft>
              <a:defRPr sz="1300" b="1">
                <a:latin typeface="Courier New"/>
              </a:defRPr>
            </a:pPr>
            <a:r>
              <a:rPr sz="1400" dirty="0">
                <a:latin typeface="Consolas" panose="020B0609020204030204" pitchFamily="49" charset="0"/>
              </a:rPr>
              <a:t>TOTAL L &amp; E         ₹  12,018,979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endParaRPr lang="en-IN" sz="1200" dirty="0">
              <a:latin typeface="Consolas" panose="020B0609020204030204" pitchFamily="49" charset="0"/>
            </a:endParaRP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endParaRPr lang="en-IN" sz="1200" dirty="0">
              <a:latin typeface="Consolas" panose="020B0609020204030204" pitchFamily="49" charset="0"/>
            </a:endParaRP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                    </a:t>
            </a:r>
          </a:p>
          <a:p>
            <a:pPr>
              <a:spcAft>
                <a:spcPts val="300"/>
              </a:spcAft>
              <a:defRPr sz="1300" b="1">
                <a:latin typeface="Courier New"/>
              </a:defRPr>
            </a:pPr>
            <a:r>
              <a:rPr sz="1400" dirty="0">
                <a:latin typeface="Consolas" panose="020B0609020204030204" pitchFamily="49" charset="0"/>
              </a:rPr>
              <a:t>KEY RATIOS          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Current Ratio       2.62:1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Debt-to-Equity      0.42:1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013931-A3B2-B000-AF7C-6FDEA2A2E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Key Performance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Current Performance vs Targets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1645920" cy="100584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Gross Margin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50.1%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Target: &gt;50%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737360"/>
            <a:ext cx="1645920" cy="100584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0" y="1828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Net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1031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25.9%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5146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Target: &gt;25%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737360"/>
            <a:ext cx="1645920" cy="100584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0" y="1828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OpEx 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1031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49.9%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5146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Target: &lt;45%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737360"/>
            <a:ext cx="1645920" cy="100584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0" y="1828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Profitable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1031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5146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5/10 months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1737360"/>
            <a:ext cx="914400" cy="100584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1828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Rating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1031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B+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483844"/>
              </p:ext>
            </p:extLst>
          </p:nvPr>
        </p:nvGraphicFramePr>
        <p:xfrm>
          <a:off x="914400" y="310896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7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 dirty="0"/>
                        <a:t>Metric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Current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Target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Status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Monthly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₹9.40L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₹10L+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B050"/>
                          </a:solidFill>
                        </a:defRPr>
                      </a:pPr>
                      <a:r>
                        <a:rPr sz="1600"/>
                        <a:t>Close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Revenue Volatility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114%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&lt;20%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00000"/>
                          </a:solidFill>
                        </a:defRPr>
                      </a:pPr>
                      <a:r>
                        <a:rPr sz="160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Operating Expense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49.9%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&lt;45%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00000"/>
                          </a:solidFill>
                        </a:defRPr>
                      </a:pPr>
                      <a:r>
                        <a:rPr sz="160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Negative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3/10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00000"/>
                          </a:solidFill>
                        </a:defRPr>
                      </a:pPr>
                      <a:r>
                        <a:rPr sz="1600"/>
                        <a:t>Concern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Cash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B050"/>
                          </a:solidFill>
                        </a:defRPr>
                      </a:pPr>
                      <a:r>
                        <a:rPr sz="1600" dirty="0"/>
                        <a:t>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5" name="Picture 24">
            <a:extLst>
              <a:ext uri="{FF2B5EF4-FFF2-40B4-BE49-F238E27FC236}">
                <a16:creationId xmlns:a16="http://schemas.microsoft.com/office/drawing/2014/main" id="{E3F8FEE1-09F6-1ED3-D822-3430BC3AF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Critical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Top 3 Priorities Requiring Immediate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8229600" cy="1280160"/>
          </a:xfrm>
          <a:prstGeom prst="rect">
            <a:avLst/>
          </a:prstGeom>
          <a:solidFill>
            <a:srgbClr val="E6F2FF"/>
          </a:solidFill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83359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0000"/>
                </a:solidFill>
              </a:defRPr>
            </a:pPr>
            <a:r>
              <a:rPr sz="1600"/>
              <a:t>ISSUE #1: REVENUE VOLATILITY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29967"/>
            <a:ext cx="2580963" cy="7423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000"/>
            </a:pPr>
            <a:r>
              <a:rPr sz="1200" dirty="0"/>
              <a:t>• 114% variance (₹6.3L to ₹13.5L)</a:t>
            </a:r>
            <a:br>
              <a:rPr sz="1200" dirty="0"/>
            </a:br>
            <a:r>
              <a:rPr sz="1200" dirty="0"/>
              <a:t>• Q3 decline: 25% drop from July peak</a:t>
            </a:r>
            <a:br>
              <a:rPr sz="1200" dirty="0"/>
            </a:br>
            <a:r>
              <a:rPr sz="1200" dirty="0"/>
              <a:t>• Unpredictable monthly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029967"/>
            <a:ext cx="2089290" cy="9639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00B050"/>
                </a:solidFill>
              </a:defRPr>
            </a:pP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ACTIONS:</a:t>
            </a:r>
            <a:b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• Patient retention analysis</a:t>
            </a:r>
            <a:b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• Launch marketing campaign</a:t>
            </a:r>
            <a:b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• Analyze July success factors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8229600" cy="1280160"/>
          </a:xfrm>
          <a:prstGeom prst="rect">
            <a:avLst/>
          </a:prstGeom>
          <a:solidFill>
            <a:srgbClr val="E6F2FF"/>
          </a:solidFill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341574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0000"/>
                </a:solidFill>
              </a:defRPr>
            </a:pPr>
            <a:r>
              <a:rPr sz="1600"/>
              <a:t>ISSUE #2: SEPTEMBER EXPENSE CRISIS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93008"/>
            <a:ext cx="2582823" cy="7423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000"/>
            </a:pPr>
            <a:r>
              <a:rPr sz="1200"/>
              <a:t>• Operating expenses: 87% of revenue</a:t>
            </a:r>
            <a:br>
              <a:rPr sz="1200"/>
            </a:br>
            <a:r>
              <a:rPr sz="1200"/>
              <a:t>• ₹6.93L OpEx on ₹7.96L revenue</a:t>
            </a:r>
            <a:br>
              <a:rPr sz="1200"/>
            </a:br>
            <a:r>
              <a:rPr sz="1200"/>
              <a:t>• Near-zero profitability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493008"/>
            <a:ext cx="2226443" cy="9639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00B050"/>
                </a:solidFill>
              </a:defRPr>
            </a:pP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ACTIONS:</a:t>
            </a:r>
            <a:b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• Immediate expense audit</a:t>
            </a:r>
            <a:b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• Vendor contract renegotiation</a:t>
            </a:r>
            <a:b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• Monthly expense budgets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63440"/>
            <a:ext cx="8229600" cy="1280160"/>
          </a:xfrm>
          <a:prstGeom prst="rect">
            <a:avLst/>
          </a:prstGeom>
          <a:solidFill>
            <a:srgbClr val="E6F2FF"/>
          </a:solidFill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640080" y="4709159"/>
            <a:ext cx="303749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9900"/>
                </a:solidFill>
              </a:defRPr>
            </a:pPr>
            <a:r>
              <a:rPr sz="1600"/>
              <a:t>ISSUE #3: CASH FLOW VOLATILITY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2470805" cy="7423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000"/>
            </a:pPr>
            <a:r>
              <a:rPr sz="1200"/>
              <a:t>• Bank flow negative in 4/10 months</a:t>
            </a:r>
            <a:br>
              <a:rPr sz="1200"/>
            </a:br>
            <a:r>
              <a:rPr sz="1200"/>
              <a:t>• September: -₹3.4L bank outflow</a:t>
            </a:r>
            <a:br>
              <a:rPr sz="1200"/>
            </a:br>
            <a:r>
              <a:rPr sz="1200"/>
              <a:t>• Liquidity risk exposure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956048"/>
            <a:ext cx="2320187" cy="9639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00B050"/>
                </a:solidFill>
              </a:defRPr>
            </a:pP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ACTIONS:</a:t>
            </a:r>
            <a:b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• 13-week rolling cash forecast</a:t>
            </a:r>
            <a:b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• Maintain ₹5L minimum balance</a:t>
            </a:r>
            <a:b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• Improve collection efficiency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8EE1645-8845-AA86-5EE5-88F613C77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4 Pillars for Sustainable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840480" cy="201168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220701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66CC"/>
                </a:solidFill>
              </a:defRPr>
            </a:pPr>
            <a:r>
              <a:rPr sz="1400"/>
              <a:t>1. REVENUE STABILIZATION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207518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050"/>
                </a:solidFill>
              </a:defRPr>
            </a:pPr>
            <a:r>
              <a:rPr sz="1600" dirty="0">
                <a:solidFill>
                  <a:schemeClr val="accent3">
                    <a:lumMod val="75000"/>
                  </a:schemeClr>
                </a:solidFill>
              </a:rPr>
              <a:t>Target: ₹10L+ monthly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2629887" cy="11900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000"/>
            </a:pPr>
            <a:r>
              <a:rPr sz="1400"/>
              <a:t>• Patient acquisition programs</a:t>
            </a:r>
            <a:br>
              <a:rPr sz="1400"/>
            </a:br>
            <a:r>
              <a:rPr sz="1400"/>
              <a:t>• Digital marketing (₹30K/month)</a:t>
            </a:r>
            <a:br>
              <a:rPr sz="1400"/>
            </a:br>
            <a:r>
              <a:rPr sz="1400"/>
              <a:t>• Retention initiatives</a:t>
            </a:r>
            <a:br>
              <a:rPr sz="1400"/>
            </a:br>
            <a:r>
              <a:rPr sz="1400"/>
              <a:t>• Corporate partnerships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828800"/>
            <a:ext cx="3840480" cy="201168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4754880" y="1920240"/>
            <a:ext cx="190667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66CC"/>
                </a:solidFill>
              </a:defRPr>
            </a:pPr>
            <a:r>
              <a:rPr sz="1400"/>
              <a:t>2. COST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240280"/>
            <a:ext cx="176291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050"/>
                </a:solidFill>
              </a:defRPr>
            </a:pPr>
            <a:r>
              <a:rPr sz="1600">
                <a:solidFill>
                  <a:schemeClr val="accent3">
                    <a:lumMod val="75000"/>
                  </a:schemeClr>
                </a:solidFill>
              </a:rPr>
              <a:t>Target: &lt;45% OpEx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514600"/>
            <a:ext cx="2022605" cy="11900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000"/>
            </a:pPr>
            <a:r>
              <a:rPr sz="1400"/>
              <a:t>• Vendor renegotiation</a:t>
            </a:r>
            <a:br>
              <a:rPr sz="1400"/>
            </a:br>
            <a:r>
              <a:rPr sz="1400"/>
              <a:t>• Zero-based budgeting</a:t>
            </a:r>
            <a:br>
              <a:rPr sz="1400"/>
            </a:br>
            <a:r>
              <a:rPr sz="1400"/>
              <a:t>• Staff optimization</a:t>
            </a:r>
            <a:br>
              <a:rPr sz="1400"/>
            </a:br>
            <a:r>
              <a:rPr sz="1400"/>
              <a:t>• Inventory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3840480" cy="201168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242938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66CC"/>
                </a:solidFill>
              </a:defRPr>
            </a:pPr>
            <a:r>
              <a:rPr sz="1400"/>
              <a:t>3. CASH FLOW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26280"/>
            <a:ext cx="265854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050"/>
                </a:solidFill>
              </a:defRPr>
            </a:pPr>
            <a:r>
              <a:rPr sz="1600">
                <a:solidFill>
                  <a:schemeClr val="accent3">
                    <a:lumMod val="75000"/>
                  </a:schemeClr>
                </a:solidFill>
              </a:rPr>
              <a:t>Target: Zero negative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00600"/>
            <a:ext cx="2308517" cy="11900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000"/>
            </a:pPr>
            <a:r>
              <a:rPr sz="1400"/>
              <a:t>• ₹5L minimum balance</a:t>
            </a:r>
            <a:br>
              <a:rPr sz="1400"/>
            </a:br>
            <a:r>
              <a:rPr sz="1400"/>
              <a:t>• 13-week cash forecast</a:t>
            </a:r>
            <a:br>
              <a:rPr sz="1400"/>
            </a:br>
            <a:r>
              <a:rPr sz="1400"/>
              <a:t>• Collection efficiency</a:t>
            </a:r>
            <a:br>
              <a:rPr sz="1400"/>
            </a:br>
            <a:r>
              <a:rPr sz="1400"/>
              <a:t>• Payment term optimization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4114800"/>
            <a:ext cx="3840480" cy="201168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>
            <a:off x="4754880" y="4206240"/>
            <a:ext cx="194796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66CC"/>
                </a:solidFill>
              </a:defRPr>
            </a:pPr>
            <a:r>
              <a:rPr sz="1400"/>
              <a:t>4. FINANCIAL VISIBILITY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526280"/>
            <a:ext cx="266630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050"/>
                </a:solidFill>
              </a:defRPr>
            </a:pPr>
            <a:r>
              <a:rPr sz="1600">
                <a:solidFill>
                  <a:schemeClr val="accent3">
                    <a:lumMod val="75000"/>
                  </a:schemeClr>
                </a:solidFill>
              </a:rPr>
              <a:t>Target: Real-time dashboards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800600"/>
            <a:ext cx="2131289" cy="11900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000"/>
            </a:pPr>
            <a:r>
              <a:rPr sz="1400"/>
              <a:t>• Daily revenue tracking</a:t>
            </a:r>
            <a:br>
              <a:rPr sz="1400"/>
            </a:br>
            <a:r>
              <a:rPr sz="1400"/>
              <a:t>• Weekly expense review</a:t>
            </a:r>
            <a:br>
              <a:rPr sz="1400"/>
            </a:br>
            <a:r>
              <a:rPr sz="1400"/>
              <a:t>• Monthly business review</a:t>
            </a:r>
            <a:br>
              <a:rPr sz="1400"/>
            </a:br>
            <a:r>
              <a:rPr sz="1400"/>
              <a:t>• KPI scorecards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79617F3-4380-C7DA-9680-4C6C2932D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90-Day Implementation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Quarterly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743200" cy="3840480"/>
          </a:xfrm>
          <a:prstGeom prst="rect">
            <a:avLst/>
          </a:prstGeom>
          <a:solidFill>
            <a:srgbClr val="E6F2FF"/>
          </a:solidFill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237404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00000"/>
                </a:solidFill>
              </a:defRPr>
            </a:pPr>
            <a:r>
              <a:rPr sz="1600"/>
              <a:t>MONTH 1: STABILIZATION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01021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rPr sz="1600"/>
              <a:t>Days 1-30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1" y="2651760"/>
            <a:ext cx="2525762" cy="2473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/>
            </a:pPr>
            <a:r>
              <a:rPr sz="1600" dirty="0"/>
              <a:t>• Conduct September expense audit</a:t>
            </a:r>
            <a:br>
              <a:rPr sz="1600" dirty="0"/>
            </a:br>
            <a:r>
              <a:rPr sz="1600" dirty="0"/>
              <a:t>• Analyze July revenue drivers</a:t>
            </a:r>
            <a:br>
              <a:rPr sz="1600" dirty="0"/>
            </a:br>
            <a:r>
              <a:rPr sz="1600" dirty="0"/>
              <a:t>• Weekly cash flow reviews</a:t>
            </a:r>
            <a:br>
              <a:rPr sz="1600" dirty="0"/>
            </a:br>
            <a:r>
              <a:rPr sz="1600" dirty="0"/>
              <a:t>• Create expense budgets</a:t>
            </a:r>
            <a:br>
              <a:rPr sz="1600" dirty="0"/>
            </a:br>
            <a:r>
              <a:rPr sz="1600" dirty="0"/>
              <a:t>• Set up KPI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828800"/>
            <a:ext cx="2743200" cy="3840480"/>
          </a:xfrm>
          <a:prstGeom prst="rect">
            <a:avLst/>
          </a:prstGeom>
          <a:solidFill>
            <a:srgbClr val="E6F2FF"/>
          </a:solidFill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TextBox 9"/>
          <p:cNvSpPr txBox="1"/>
          <p:nvPr/>
        </p:nvSpPr>
        <p:spPr>
          <a:xfrm>
            <a:off x="3383280" y="1965960"/>
            <a:ext cx="23948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9900"/>
                </a:solidFill>
              </a:defRPr>
            </a:pPr>
            <a:r>
              <a:rPr sz="1600"/>
              <a:t>MONTH 2: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331720"/>
            <a:ext cx="111440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rPr sz="1600"/>
              <a:t>Days 31-60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1" y="2651760"/>
            <a:ext cx="2525762" cy="2128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/>
            </a:pPr>
            <a:r>
              <a:rPr sz="1600" dirty="0"/>
              <a:t>• Launch retention program</a:t>
            </a:r>
            <a:br>
              <a:rPr sz="1600" dirty="0"/>
            </a:br>
            <a:r>
              <a:rPr sz="1600" dirty="0"/>
              <a:t>• Renegotiate vendor contracts</a:t>
            </a:r>
            <a:br>
              <a:rPr sz="1600" dirty="0"/>
            </a:br>
            <a:r>
              <a:rPr sz="1600" dirty="0"/>
              <a:t>• Digital payment incentives</a:t>
            </a:r>
            <a:br>
              <a:rPr sz="1600" dirty="0"/>
            </a:br>
            <a:r>
              <a:rPr sz="1600" dirty="0"/>
              <a:t>• Staff productivity review</a:t>
            </a:r>
            <a:br>
              <a:rPr sz="1600" dirty="0"/>
            </a:br>
            <a:r>
              <a:rPr sz="1600" dirty="0"/>
              <a:t>• Inventory optimization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828800"/>
            <a:ext cx="2743200" cy="3840480"/>
          </a:xfrm>
          <a:prstGeom prst="rect">
            <a:avLst/>
          </a:prstGeom>
          <a:solidFill>
            <a:srgbClr val="E6F2FF"/>
          </a:solidFill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TextBox 13"/>
          <p:cNvSpPr txBox="1"/>
          <p:nvPr/>
        </p:nvSpPr>
        <p:spPr>
          <a:xfrm>
            <a:off x="6126480" y="1965960"/>
            <a:ext cx="192103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B050"/>
                </a:solidFill>
              </a:defRPr>
            </a:pPr>
            <a:r>
              <a:rPr sz="1600"/>
              <a:t>MONTH 3: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331720"/>
            <a:ext cx="111440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rPr sz="1600"/>
              <a:t>Days 61-90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651760"/>
            <a:ext cx="2594878" cy="17838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defRPr sz="1000"/>
            </a:pPr>
            <a:r>
              <a:rPr sz="1600"/>
              <a:t>• Digital marketing campaign</a:t>
            </a:r>
            <a:br>
              <a:rPr sz="1600"/>
            </a:br>
            <a:r>
              <a:rPr sz="1600"/>
              <a:t>• Quarterly business review</a:t>
            </a:r>
            <a:br>
              <a:rPr sz="1600"/>
            </a:br>
            <a:r>
              <a:rPr sz="1600"/>
              <a:t>• Set FY 2026 targets</a:t>
            </a:r>
            <a:br>
              <a:rPr sz="1600"/>
            </a:br>
            <a:r>
              <a:rPr sz="1600"/>
              <a:t>• Plan capacity expansion</a:t>
            </a:r>
            <a:br>
              <a:rPr sz="1600"/>
            </a:br>
            <a:r>
              <a:rPr sz="1600"/>
              <a:t>• Measure 90-day results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7747708-B5DC-5D25-CB90-C53B2421A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Expected Outcomes (FY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If Recommendations Implemented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468880" cy="11887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FY 2026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₹1.40 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+25% Growth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828800"/>
            <a:ext cx="2468880" cy="118872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92024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FY 2026 PROFIT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945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₹49 Lakhs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60604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+59% Growth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2011680" cy="11887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9202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NET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945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060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From 44%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170294"/>
              </p:ext>
            </p:extLst>
          </p:nvPr>
        </p:nvGraphicFramePr>
        <p:xfrm>
          <a:off x="914400" y="3474720"/>
          <a:ext cx="7315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Metric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FY 2025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FY 2026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Change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₹1.11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₹1.40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B050"/>
                          </a:solidFill>
                        </a:defRPr>
                      </a:pPr>
                      <a:r>
                        <a:rPr sz="1600"/>
                        <a:t>+25%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Net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₹30.9L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₹49.0L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B050"/>
                          </a:solidFill>
                        </a:defRPr>
                      </a:pPr>
                      <a:r>
                        <a:rPr sz="1600"/>
                        <a:t>+59%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NP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35.0%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B050"/>
                          </a:solidFill>
                        </a:defRPr>
                      </a:pPr>
                      <a:r>
                        <a:rPr sz="1600"/>
                        <a:t>+7.2%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OpEx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49.9%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43.0%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-6.9%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Loss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3/12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0/12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B050"/>
                          </a:solidFill>
                        </a:defRPr>
                      </a:pPr>
                      <a:r>
                        <a:rPr sz="1600" dirty="0"/>
                        <a:t>100% improve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DCACF0AB-04E8-CBDF-E434-32B89137F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1096</Words>
  <Application>Microsoft Office PowerPoint</Application>
  <PresentationFormat>On-screen Show (4:3)</PresentationFormat>
  <Paragraphs>310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Vinod Kumar</cp:lastModifiedBy>
  <cp:revision>5</cp:revision>
  <dcterms:created xsi:type="dcterms:W3CDTF">2013-01-27T09:14:16Z</dcterms:created>
  <dcterms:modified xsi:type="dcterms:W3CDTF">2025-11-09T06:43:46Z</dcterms:modified>
  <cp:category/>
</cp:coreProperties>
</file>