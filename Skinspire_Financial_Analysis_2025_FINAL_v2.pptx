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7" r:id="rId4"/>
    <p:sldId id="263" r:id="rId5"/>
    <p:sldId id="274" r:id="rId6"/>
    <p:sldId id="258" r:id="rId7"/>
    <p:sldId id="259" r:id="rId8"/>
    <p:sldId id="260" r:id="rId9"/>
    <p:sldId id="261" r:id="rId10"/>
    <p:sldId id="262" r:id="rId11"/>
    <p:sldId id="275" r:id="rId12"/>
    <p:sldId id="264" r:id="rId13"/>
    <p:sldId id="265" r:id="rId14"/>
    <p:sldId id="266" r:id="rId15"/>
    <p:sldId id="276" r:id="rId16"/>
    <p:sldId id="267" r:id="rId17"/>
    <p:sldId id="268" r:id="rId18"/>
    <p:sldId id="269" r:id="rId19"/>
    <p:sldId id="270" r:id="rId20"/>
    <p:sldId id="277" r:id="rId21"/>
    <p:sldId id="271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11.10615</c:v>
                </c:pt>
                <c:pt idx="1">
                  <c:v>6.2977999999999996</c:v>
                </c:pt>
                <c:pt idx="2">
                  <c:v>9.6258099999999995</c:v>
                </c:pt>
                <c:pt idx="3">
                  <c:v>7.8344800000000001</c:v>
                </c:pt>
                <c:pt idx="4">
                  <c:v>8.5520399999999999</c:v>
                </c:pt>
                <c:pt idx="5">
                  <c:v>9.65456</c:v>
                </c:pt>
                <c:pt idx="6">
                  <c:v>13.475440000000001</c:v>
                </c:pt>
                <c:pt idx="7">
                  <c:v>12.43094</c:v>
                </c:pt>
                <c:pt idx="8">
                  <c:v>7.9610500000000002</c:v>
                </c:pt>
                <c:pt idx="9">
                  <c:v>7.0144500000000001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A9-440E-AA6E-9938AC821A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(₹L)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5.6384699999999999</c:v>
                </c:pt>
                <c:pt idx="1">
                  <c:v>1.8970400000000001</c:v>
                </c:pt>
                <c:pt idx="2">
                  <c:v>4.2893299999999996</c:v>
                </c:pt>
                <c:pt idx="3">
                  <c:v>4.5716999999999999</c:v>
                </c:pt>
                <c:pt idx="4">
                  <c:v>3.9924599999999999</c:v>
                </c:pt>
                <c:pt idx="5">
                  <c:v>4.6246600000000004</c:v>
                </c:pt>
                <c:pt idx="6">
                  <c:v>10.774419999999999</c:v>
                </c:pt>
                <c:pt idx="7">
                  <c:v>7.5319099999999999</c:v>
                </c:pt>
                <c:pt idx="8">
                  <c:v>1.02905</c:v>
                </c:pt>
                <c:pt idx="9">
                  <c:v>2.76647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4C-44CF-8339-0B22EF9A7F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(₹L)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3.8590100000000001</c:v>
                </c:pt>
                <c:pt idx="1">
                  <c:v>-3.71319</c:v>
                </c:pt>
                <c:pt idx="2">
                  <c:v>3.1419999999999997E-2</c:v>
                </c:pt>
                <c:pt idx="3">
                  <c:v>0.20615</c:v>
                </c:pt>
                <c:pt idx="4">
                  <c:v>-0.59086000000000005</c:v>
                </c:pt>
                <c:pt idx="5">
                  <c:v>1.9583299999999999</c:v>
                </c:pt>
                <c:pt idx="6">
                  <c:v>8.3936600000000006</c:v>
                </c:pt>
                <c:pt idx="7">
                  <c:v>6.0475300000000001</c:v>
                </c:pt>
                <c:pt idx="8">
                  <c:v>-0.40448000000000001</c:v>
                </c:pt>
                <c:pt idx="9">
                  <c:v>0.84465999999999997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4C-44CF-8339-0B22EF9A7F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 Lakhs)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3.8590100000000001</c:v>
                </c:pt>
                <c:pt idx="1">
                  <c:v>-3.71319</c:v>
                </c:pt>
                <c:pt idx="2">
                  <c:v>3.1419999999999997E-2</c:v>
                </c:pt>
                <c:pt idx="3">
                  <c:v>0.20615</c:v>
                </c:pt>
                <c:pt idx="4">
                  <c:v>-0.59086000000000005</c:v>
                </c:pt>
                <c:pt idx="5">
                  <c:v>1.9583299999999999</c:v>
                </c:pt>
                <c:pt idx="6">
                  <c:v>8.3936600000000006</c:v>
                </c:pt>
                <c:pt idx="7">
                  <c:v>6.0475300000000001</c:v>
                </c:pt>
                <c:pt idx="8">
                  <c:v>-0.40448000000000001</c:v>
                </c:pt>
                <c:pt idx="9">
                  <c:v>0.84465999999999997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AF-4208-AD94-2CF4126A4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OpEx %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49.231101686903202</c:v>
                </c:pt>
                <c:pt idx="1">
                  <c:v>69.877735082092158</c:v>
                </c:pt>
                <c:pt idx="2">
                  <c:v>55.439282512328838</c:v>
                </c:pt>
                <c:pt idx="3">
                  <c:v>41.646414312117713</c:v>
                </c:pt>
                <c:pt idx="4">
                  <c:v>53.315700113657094</c:v>
                </c:pt>
                <c:pt idx="5">
                  <c:v>52.098697403092423</c:v>
                </c:pt>
                <c:pt idx="6">
                  <c:v>20.044020826036107</c:v>
                </c:pt>
                <c:pt idx="7">
                  <c:v>39.409972214490615</c:v>
                </c:pt>
                <c:pt idx="8">
                  <c:v>87.073941251468085</c:v>
                </c:pt>
                <c:pt idx="9">
                  <c:v>60.560414572774768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1F-4CAE-AC8B-F6ED47BC8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58246C-2495-7DC8-0088-47BA7F59961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2FF"/>
                </a:solidFill>
              </a:defRPr>
            </a:pPr>
            <a:r>
              <a:t>Financial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January -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8677" y="6217920"/>
            <a:ext cx="438665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F7F7F"/>
                </a:solidFill>
              </a:defRPr>
            </a:pPr>
            <a:r>
              <a:rPr dirty="0"/>
              <a:t>Prepared for: CEO &amp; Management Team | Confidential</a:t>
            </a:r>
            <a:r>
              <a:rPr lang="en-IN" dirty="0"/>
              <a:t>   09.11.2025</a:t>
            </a:r>
            <a:endParaRPr dirty="0"/>
          </a:p>
        </p:txBody>
      </p:sp>
      <p:pic>
        <p:nvPicPr>
          <p:cNvPr id="7" name="Picture 6" descr="temp_im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843" y="-1527405"/>
            <a:ext cx="9144000" cy="6465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D2B9E-C8E7-9195-1A4E-AEF47D76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158C53-2622-D172-5E75-440CA322A6F7}"/>
              </a:ext>
            </a:extLst>
          </p:cNvPr>
          <p:cNvSpPr/>
          <p:nvPr/>
        </p:nvSpPr>
        <p:spPr>
          <a:xfrm>
            <a:off x="0" y="0"/>
            <a:ext cx="9144000" cy="248458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891F7-CBC4-175B-C39D-BA33A8B5E08A}"/>
              </a:ext>
            </a:extLst>
          </p:cNvPr>
          <p:cNvSpPr txBox="1"/>
          <p:nvPr/>
        </p:nvSpPr>
        <p:spPr>
          <a:xfrm>
            <a:off x="2848643" y="869027"/>
            <a:ext cx="34467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2FF"/>
                </a:solidFill>
              </a:defRPr>
            </a:pPr>
            <a:r>
              <a:rPr lang="en-IN" dirty="0"/>
              <a:t>Executive Summary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A47AE-7F00-7FA9-B37C-F96C065A9B8B}"/>
              </a:ext>
            </a:extLst>
          </p:cNvPr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F7F7F"/>
                </a:solidFill>
              </a:defRPr>
            </a:pPr>
            <a:r>
              <a:rPr dirty="0"/>
              <a:t>Prepared for: CEO &amp; Management Team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018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10-Month Performance Overview (Jan-Oct 2025)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B98B708-FAA7-CD3E-76F2-E74922318C50}"/>
              </a:ext>
            </a:extLst>
          </p:cNvPr>
          <p:cNvGrpSpPr/>
          <p:nvPr/>
        </p:nvGrpSpPr>
        <p:grpSpPr>
          <a:xfrm>
            <a:off x="337129" y="1645920"/>
            <a:ext cx="1787235" cy="1097280"/>
            <a:chOff x="337129" y="1645920"/>
            <a:chExt cx="2011680" cy="1097280"/>
          </a:xfrm>
        </p:grpSpPr>
        <p:sp>
          <p:nvSpPr>
            <p:cNvPr id="5" name="Rectangle 4"/>
            <p:cNvSpPr/>
            <p:nvPr/>
          </p:nvSpPr>
          <p:spPr>
            <a:xfrm>
              <a:off x="457200" y="1645920"/>
              <a:ext cx="1778000" cy="109728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37129" y="1737360"/>
              <a:ext cx="20116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dirty="0"/>
                <a:t>TOTAL REVENUE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7129" y="2011680"/>
              <a:ext cx="2011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rPr dirty="0"/>
                <a:t>₹93.95L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7129" y="2423160"/>
              <a:ext cx="201168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100%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88C94A8-B32B-74D6-B304-604506B2CF4C}"/>
              </a:ext>
            </a:extLst>
          </p:cNvPr>
          <p:cNvGrpSpPr/>
          <p:nvPr/>
        </p:nvGrpSpPr>
        <p:grpSpPr>
          <a:xfrm>
            <a:off x="1988592" y="1645920"/>
            <a:ext cx="2011680" cy="1097280"/>
            <a:chOff x="2262917" y="1645920"/>
            <a:chExt cx="2011680" cy="1097280"/>
          </a:xfrm>
        </p:grpSpPr>
        <p:sp>
          <p:nvSpPr>
            <p:cNvPr id="9" name="Rectangle 8"/>
            <p:cNvSpPr/>
            <p:nvPr/>
          </p:nvSpPr>
          <p:spPr>
            <a:xfrm>
              <a:off x="2468880" y="1645920"/>
              <a:ext cx="1589367" cy="109728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62917" y="1737360"/>
              <a:ext cx="20116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dirty="0"/>
                <a:t>GROSS PROFIT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62917" y="2011680"/>
              <a:ext cx="2011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rPr dirty="0"/>
                <a:t>₹47.12L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62917" y="2423160"/>
              <a:ext cx="201168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rPr dirty="0"/>
                <a:t>50.1%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9728DAA-9137-FFA3-9895-7E19C24BEFFC}"/>
              </a:ext>
            </a:extLst>
          </p:cNvPr>
          <p:cNvGrpSpPr/>
          <p:nvPr/>
        </p:nvGrpSpPr>
        <p:grpSpPr>
          <a:xfrm>
            <a:off x="4000275" y="1645920"/>
            <a:ext cx="1589367" cy="1097280"/>
            <a:chOff x="5029200" y="1645920"/>
            <a:chExt cx="2011680" cy="1097280"/>
          </a:xfrm>
        </p:grpSpPr>
        <p:sp>
          <p:nvSpPr>
            <p:cNvPr id="13" name="Rectangle 12"/>
            <p:cNvSpPr/>
            <p:nvPr/>
          </p:nvSpPr>
          <p:spPr>
            <a:xfrm>
              <a:off x="5029200" y="1645920"/>
              <a:ext cx="2011680" cy="1097280"/>
            </a:xfrm>
            <a:prstGeom prst="rect">
              <a:avLst/>
            </a:prstGeom>
            <a:solidFill>
              <a:srgbClr val="003366"/>
            </a:solidFill>
            <a:ln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29200" y="1737360"/>
              <a:ext cx="20116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NET PROFIT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9200" y="2011680"/>
              <a:ext cx="2011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rPr dirty="0"/>
                <a:t>₹16.63L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29200" y="2423160"/>
              <a:ext cx="201168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17.7%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31520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011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23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Strong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BEFC4F6-5F17-75A7-29CD-DD415C8039C5}"/>
              </a:ext>
            </a:extLst>
          </p:cNvPr>
          <p:cNvGrpSpPr/>
          <p:nvPr/>
        </p:nvGrpSpPr>
        <p:grpSpPr>
          <a:xfrm>
            <a:off x="457200" y="3017520"/>
            <a:ext cx="1566231" cy="1097280"/>
            <a:chOff x="457200" y="3017520"/>
            <a:chExt cx="2011680" cy="1097280"/>
          </a:xfrm>
        </p:grpSpPr>
        <p:sp>
          <p:nvSpPr>
            <p:cNvPr id="21" name="Rectangle 20"/>
            <p:cNvSpPr/>
            <p:nvPr/>
          </p:nvSpPr>
          <p:spPr>
            <a:xfrm>
              <a:off x="457200" y="3017520"/>
              <a:ext cx="2011680" cy="1097280"/>
            </a:xfrm>
            <a:prstGeom prst="rect">
              <a:avLst/>
            </a:prstGeom>
            <a:solidFill>
              <a:srgbClr val="FF9900"/>
            </a:solidFill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57200" y="3108960"/>
              <a:ext cx="20116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dirty="0"/>
                <a:t>OPERATING EXPENSE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57200" y="3383280"/>
              <a:ext cx="2011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rPr dirty="0"/>
                <a:t>₹46.84L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7200" y="3794760"/>
              <a:ext cx="201168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49.9%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FA44863-9819-D351-DC3A-030C33B27230}"/>
              </a:ext>
            </a:extLst>
          </p:cNvPr>
          <p:cNvGrpSpPr/>
          <p:nvPr/>
        </p:nvGrpSpPr>
        <p:grpSpPr>
          <a:xfrm>
            <a:off x="2211703" y="3017520"/>
            <a:ext cx="1609163" cy="1097280"/>
            <a:chOff x="2743200" y="3017520"/>
            <a:chExt cx="2011680" cy="1097280"/>
          </a:xfrm>
        </p:grpSpPr>
        <p:sp>
          <p:nvSpPr>
            <p:cNvPr id="25" name="Rectangle 24"/>
            <p:cNvSpPr/>
            <p:nvPr/>
          </p:nvSpPr>
          <p:spPr>
            <a:xfrm>
              <a:off x="2743200" y="3017520"/>
              <a:ext cx="2011680" cy="109728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112139" y="3108960"/>
              <a:ext cx="1273810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lang="en-IN" dirty="0"/>
                <a:t>Personal Expense</a:t>
              </a:r>
              <a:endParaRPr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112577" y="3383280"/>
              <a:ext cx="1272927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rPr lang="en-IN" dirty="0"/>
                <a:t>₹9.61L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33211" y="3794760"/>
              <a:ext cx="631656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rPr lang="en-IN" dirty="0"/>
                <a:t>20.4</a:t>
              </a:r>
              <a:r>
                <a:rPr dirty="0"/>
                <a:t>%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B0DBA32-31E9-433F-2388-2D174E2B3B85}"/>
              </a:ext>
            </a:extLst>
          </p:cNvPr>
          <p:cNvGrpSpPr/>
          <p:nvPr/>
        </p:nvGrpSpPr>
        <p:grpSpPr>
          <a:xfrm>
            <a:off x="4000276" y="3017520"/>
            <a:ext cx="1609163" cy="1097280"/>
            <a:chOff x="5029200" y="3017520"/>
            <a:chExt cx="2011680" cy="1097280"/>
          </a:xfrm>
        </p:grpSpPr>
        <p:sp>
          <p:nvSpPr>
            <p:cNvPr id="29" name="Rectangle 28"/>
            <p:cNvSpPr/>
            <p:nvPr/>
          </p:nvSpPr>
          <p:spPr>
            <a:xfrm>
              <a:off x="5029200" y="3017520"/>
              <a:ext cx="2011680" cy="109728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451516" y="3108960"/>
              <a:ext cx="1167051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lang="en-IN" dirty="0"/>
                <a:t>Capital Expense</a:t>
              </a:r>
              <a:endParaRPr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01382" y="3383280"/>
              <a:ext cx="1467314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rPr dirty="0"/>
                <a:t>₹</a:t>
              </a:r>
              <a:r>
                <a:rPr lang="en-IN" dirty="0"/>
                <a:t>20.87</a:t>
              </a:r>
              <a:r>
                <a:rPr dirty="0"/>
                <a:t>L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78130" y="3794760"/>
              <a:ext cx="713818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rPr lang="en-IN" dirty="0"/>
                <a:t>44.29%</a:t>
              </a:r>
              <a:endParaRPr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84B1DA-236F-96BB-0CFE-AC685662C5E3}"/>
              </a:ext>
            </a:extLst>
          </p:cNvPr>
          <p:cNvGrpSpPr/>
          <p:nvPr/>
        </p:nvGrpSpPr>
        <p:grpSpPr>
          <a:xfrm>
            <a:off x="7481454" y="3017520"/>
            <a:ext cx="1371600" cy="1097280"/>
            <a:chOff x="7315200" y="3017520"/>
            <a:chExt cx="1371600" cy="1097280"/>
          </a:xfrm>
        </p:grpSpPr>
        <p:sp>
          <p:nvSpPr>
            <p:cNvPr id="33" name="Rectangle 32"/>
            <p:cNvSpPr/>
            <p:nvPr/>
          </p:nvSpPr>
          <p:spPr>
            <a:xfrm>
              <a:off x="7315200" y="3017520"/>
              <a:ext cx="1371600" cy="109728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80414" y="3108960"/>
              <a:ext cx="1241174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lang="en-IN" dirty="0"/>
                <a:t>ICICI –</a:t>
              </a:r>
              <a:r>
                <a:rPr lang="en-IN" dirty="0" err="1"/>
                <a:t>ve</a:t>
              </a:r>
              <a:r>
                <a:rPr lang="en-IN" dirty="0"/>
                <a:t> balance</a:t>
              </a:r>
              <a:endParaRPr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414140" y="3383280"/>
              <a:ext cx="1173719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rPr lang="en-IN" dirty="0"/>
                <a:t>₹24.46L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15200" y="3794760"/>
              <a:ext cx="13716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rPr dirty="0"/>
                <a:t>Margin</a:t>
              </a:r>
            </a:p>
          </p:txBody>
        </p:sp>
      </p:grpSp>
      <p:sp>
        <p:nvSpPr>
          <p:cNvPr id="37" name="Rectangle 36"/>
          <p:cNvSpPr/>
          <p:nvPr/>
        </p:nvSpPr>
        <p:spPr>
          <a:xfrm>
            <a:off x="531088" y="4389120"/>
            <a:ext cx="822960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968" y="4572000"/>
            <a:ext cx="786384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B050"/>
                </a:solidFill>
              </a:defRPr>
            </a:pPr>
            <a:r>
              <a:rPr sz="1400" dirty="0"/>
              <a:t>STRENGTHS:  • 50% Gross Profit Margin  • Positive Overall Cash Flow  • Diversified Revenue Streams</a:t>
            </a:r>
          </a:p>
          <a:p>
            <a:pPr>
              <a:spcAft>
                <a:spcPts val="800"/>
              </a:spcAft>
              <a:defRPr sz="1200" b="1">
                <a:solidFill>
                  <a:srgbClr val="C00000"/>
                </a:solidFill>
              </a:defRPr>
            </a:pPr>
            <a:r>
              <a:rPr sz="1400" dirty="0"/>
              <a:t>CONCERNS:  • High Revenue Volatility (114%)  • 3 Loss-Making Months  • September Expense Crisis (87% </a:t>
            </a:r>
            <a:r>
              <a:rPr sz="1400" dirty="0" err="1"/>
              <a:t>OpEx</a:t>
            </a:r>
            <a:r>
              <a:rPr sz="1400" dirty="0"/>
              <a:t>)</a:t>
            </a:r>
          </a:p>
          <a:p>
            <a:pPr>
              <a:spcAft>
                <a:spcPts val="800"/>
              </a:spcAft>
              <a:defRPr sz="1200" b="1">
                <a:solidFill>
                  <a:srgbClr val="0066CC"/>
                </a:solidFill>
              </a:defRPr>
            </a:pPr>
            <a:r>
              <a:rPr sz="1400" dirty="0"/>
              <a:t>PRIORITY:  • Stabilize Monthly Revenue  • Control Operating Expenses  • Improve Cash Flow Visibility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DD3870E0-E225-5BEA-2B4C-8F75801A0E02}"/>
              </a:ext>
            </a:extLst>
          </p:cNvPr>
          <p:cNvGrpSpPr/>
          <p:nvPr/>
        </p:nvGrpSpPr>
        <p:grpSpPr>
          <a:xfrm>
            <a:off x="5850012" y="3017151"/>
            <a:ext cx="1465188" cy="1097280"/>
            <a:chOff x="457200" y="3017520"/>
            <a:chExt cx="2011680" cy="109728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3FE2CE1-FCED-ADC9-47FA-B2A6C0D4D82F}"/>
                </a:ext>
              </a:extLst>
            </p:cNvPr>
            <p:cNvSpPr/>
            <p:nvPr/>
          </p:nvSpPr>
          <p:spPr>
            <a:xfrm>
              <a:off x="457200" y="3017520"/>
              <a:ext cx="2011680" cy="1097280"/>
            </a:xfrm>
            <a:prstGeom prst="rect">
              <a:avLst/>
            </a:prstGeom>
            <a:solidFill>
              <a:srgbClr val="FF9900"/>
            </a:solidFill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9ADBA29-8136-E34B-E41D-245A2B591FE0}"/>
                </a:ext>
              </a:extLst>
            </p:cNvPr>
            <p:cNvSpPr txBox="1"/>
            <p:nvPr/>
          </p:nvSpPr>
          <p:spPr>
            <a:xfrm>
              <a:off x="664775" y="3108960"/>
              <a:ext cx="1596532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lang="en-IN" dirty="0"/>
                <a:t>TOTAL</a:t>
              </a:r>
              <a:r>
                <a:rPr dirty="0"/>
                <a:t> EXPENSE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47E4A33-4726-6478-9A49-5AF6F60D2773}"/>
                </a:ext>
              </a:extLst>
            </p:cNvPr>
            <p:cNvSpPr txBox="1"/>
            <p:nvPr/>
          </p:nvSpPr>
          <p:spPr>
            <a:xfrm>
              <a:off x="657292" y="3383280"/>
              <a:ext cx="1611498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rPr dirty="0"/>
                <a:t>₹</a:t>
              </a:r>
              <a:r>
                <a:rPr lang="en-IN" dirty="0"/>
                <a:t>77.32</a:t>
              </a:r>
              <a:r>
                <a:rPr dirty="0"/>
                <a:t>L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87249EF-BE48-128E-6A47-BBCA79C865B0}"/>
                </a:ext>
              </a:extLst>
            </p:cNvPr>
            <p:cNvSpPr txBox="1"/>
            <p:nvPr/>
          </p:nvSpPr>
          <p:spPr>
            <a:xfrm>
              <a:off x="1071058" y="3794760"/>
              <a:ext cx="783960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rPr lang="en-IN" dirty="0"/>
                <a:t>82.29</a:t>
              </a:r>
              <a:r>
                <a:rPr dirty="0"/>
                <a:t>%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DDAA8E3-0D1A-F470-DE49-1B84DAD1EE3E}"/>
              </a:ext>
            </a:extLst>
          </p:cNvPr>
          <p:cNvGrpSpPr/>
          <p:nvPr/>
        </p:nvGrpSpPr>
        <p:grpSpPr>
          <a:xfrm>
            <a:off x="5806622" y="1654089"/>
            <a:ext cx="1480872" cy="1097280"/>
            <a:chOff x="5029200" y="3017520"/>
            <a:chExt cx="2011680" cy="109728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4611908-8E7E-A593-0F20-85E54F2F1ABD}"/>
                </a:ext>
              </a:extLst>
            </p:cNvPr>
            <p:cNvSpPr/>
            <p:nvPr/>
          </p:nvSpPr>
          <p:spPr>
            <a:xfrm>
              <a:off x="5029200" y="3017520"/>
              <a:ext cx="2011680" cy="109728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C18A7D2-70E3-F2B8-E33D-E3191EDC7202}"/>
                </a:ext>
              </a:extLst>
            </p:cNvPr>
            <p:cNvSpPr txBox="1"/>
            <p:nvPr/>
          </p:nvSpPr>
          <p:spPr>
            <a:xfrm>
              <a:off x="5105898" y="3053219"/>
              <a:ext cx="177862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dirty="0"/>
                <a:t>AVG MONTHLY REVENUE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0AEFE89-A520-056E-BC31-96D8CE363547}"/>
                </a:ext>
              </a:extLst>
            </p:cNvPr>
            <p:cNvSpPr txBox="1"/>
            <p:nvPr/>
          </p:nvSpPr>
          <p:spPr>
            <a:xfrm>
              <a:off x="5029200" y="3383280"/>
              <a:ext cx="2011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t>₹9.40L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441157A-F9F1-FD42-230E-1FC23A3CF92F}"/>
                </a:ext>
              </a:extLst>
            </p:cNvPr>
            <p:cNvSpPr txBox="1"/>
            <p:nvPr/>
          </p:nvSpPr>
          <p:spPr>
            <a:xfrm>
              <a:off x="5029200" y="3794760"/>
              <a:ext cx="201168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Per Month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66FFD0-BEA5-C813-E99A-BF383E2B0F0C}"/>
              </a:ext>
            </a:extLst>
          </p:cNvPr>
          <p:cNvGrpSpPr/>
          <p:nvPr/>
        </p:nvGrpSpPr>
        <p:grpSpPr>
          <a:xfrm>
            <a:off x="7504474" y="1654089"/>
            <a:ext cx="1371600" cy="1097280"/>
            <a:chOff x="7315200" y="3017520"/>
            <a:chExt cx="1371600" cy="109728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0426071-875B-A53B-D1E7-8213A00AC0FA}"/>
                </a:ext>
              </a:extLst>
            </p:cNvPr>
            <p:cNvSpPr/>
            <p:nvPr/>
          </p:nvSpPr>
          <p:spPr>
            <a:xfrm>
              <a:off x="7315200" y="3017520"/>
              <a:ext cx="1371600" cy="109728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F0EFEAE-FB66-0318-E015-3D0CD01AAEA5}"/>
                </a:ext>
              </a:extLst>
            </p:cNvPr>
            <p:cNvSpPr txBox="1"/>
            <p:nvPr/>
          </p:nvSpPr>
          <p:spPr>
            <a:xfrm>
              <a:off x="7451909" y="3108960"/>
              <a:ext cx="1098186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dirty="0"/>
                <a:t>G</a:t>
              </a:r>
              <a:r>
                <a:rPr lang="en-IN" dirty="0"/>
                <a:t>ross </a:t>
              </a:r>
              <a:r>
                <a:rPr dirty="0"/>
                <a:t>P</a:t>
              </a:r>
              <a:r>
                <a:rPr lang="en-IN" dirty="0" err="1"/>
                <a:t>rofit</a:t>
              </a:r>
              <a:r>
                <a:rPr lang="en-IN" dirty="0"/>
                <a:t> </a:t>
              </a:r>
              <a:r>
                <a:rPr dirty="0"/>
                <a:t> %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757AD5E-4B95-0B88-B6BA-651C2A6E37AF}"/>
                </a:ext>
              </a:extLst>
            </p:cNvPr>
            <p:cNvSpPr txBox="1"/>
            <p:nvPr/>
          </p:nvSpPr>
          <p:spPr>
            <a:xfrm>
              <a:off x="7315200" y="3383280"/>
              <a:ext cx="13716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t>50%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CD6669B-B1B6-D10D-7AAC-E808B149E82C}"/>
                </a:ext>
              </a:extLst>
            </p:cNvPr>
            <p:cNvSpPr txBox="1"/>
            <p:nvPr/>
          </p:nvSpPr>
          <p:spPr>
            <a:xfrm>
              <a:off x="7315200" y="3794760"/>
              <a:ext cx="13716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Margin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Cash Flow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Bank vs Cash Collections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69965E-D048-369E-9860-7A5712D67300}"/>
              </a:ext>
            </a:extLst>
          </p:cNvPr>
          <p:cNvGrpSpPr/>
          <p:nvPr/>
        </p:nvGrpSpPr>
        <p:grpSpPr>
          <a:xfrm>
            <a:off x="914400" y="1320803"/>
            <a:ext cx="7406640" cy="1005840"/>
            <a:chOff x="914400" y="1828800"/>
            <a:chExt cx="7406640" cy="1188720"/>
          </a:xfrm>
        </p:grpSpPr>
        <p:sp>
          <p:nvSpPr>
            <p:cNvPr id="5" name="Rectangle 4"/>
            <p:cNvSpPr/>
            <p:nvPr/>
          </p:nvSpPr>
          <p:spPr>
            <a:xfrm>
              <a:off x="914400" y="1828800"/>
              <a:ext cx="2286000" cy="118872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1920240"/>
              <a:ext cx="2286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BANK COLLECTIONS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194560"/>
              <a:ext cx="22860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t>₹71.48L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2606040"/>
              <a:ext cx="22860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76.1%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474720" y="1828800"/>
              <a:ext cx="2286000" cy="118872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920240"/>
              <a:ext cx="2286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CASH COLLECTIONS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194560"/>
              <a:ext cx="22860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t>₹22.47L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74720" y="2606040"/>
              <a:ext cx="22860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rPr dirty="0"/>
                <a:t>23.9%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035040" y="1828800"/>
              <a:ext cx="2286000" cy="1188720"/>
            </a:xfrm>
            <a:prstGeom prst="rect">
              <a:avLst/>
            </a:prstGeom>
            <a:solidFill>
              <a:srgbClr val="003366"/>
            </a:solidFill>
            <a:ln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77393" y="1920240"/>
              <a:ext cx="1201291" cy="32736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dirty="0"/>
                <a:t>TOTAL </a:t>
              </a:r>
              <a:r>
                <a:rPr lang="en-IN" dirty="0"/>
                <a:t>REVENUE</a:t>
              </a:r>
              <a:endParaRPr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35040" y="2194560"/>
              <a:ext cx="22860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t>₹93.95L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35040" y="2606040"/>
              <a:ext cx="22860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100%</a:t>
              </a:r>
            </a:p>
          </p:txBody>
        </p:sp>
      </p:grp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8ECEC3B-D074-A1B1-1822-8CB17152C5F2}"/>
              </a:ext>
            </a:extLst>
          </p:cNvPr>
          <p:cNvGrpSpPr/>
          <p:nvPr/>
        </p:nvGrpSpPr>
        <p:grpSpPr>
          <a:xfrm>
            <a:off x="914400" y="3873723"/>
            <a:ext cx="7315200" cy="3061534"/>
            <a:chOff x="914400" y="3711163"/>
            <a:chExt cx="7315200" cy="3224094"/>
          </a:xfrm>
        </p:grpSpPr>
        <p:sp>
          <p:nvSpPr>
            <p:cNvPr id="17" name="Rectangle 16"/>
            <p:cNvSpPr/>
            <p:nvPr/>
          </p:nvSpPr>
          <p:spPr>
            <a:xfrm>
              <a:off x="914400" y="3873723"/>
              <a:ext cx="7315200" cy="2848863"/>
            </a:xfrm>
            <a:prstGeom prst="rect">
              <a:avLst/>
            </a:prstGeom>
            <a:solidFill>
              <a:srgbClr val="E6F2FF"/>
            </a:solidFill>
            <a:ln w="25400"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88720" y="3949824"/>
              <a:ext cx="3117272" cy="29854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400" b="1"/>
              </a:pPr>
              <a:r>
                <a:rPr sz="1600" dirty="0"/>
                <a:t>KEY OBSERVATIONS:</a:t>
              </a:r>
              <a:endParaRPr lang="en-IN" sz="1600" dirty="0"/>
            </a:p>
            <a:p>
              <a:pPr>
                <a:spcAft>
                  <a:spcPts val="600"/>
                </a:spcAft>
                <a:defRPr sz="1400" b="1"/>
              </a:pPr>
              <a:endParaRPr sz="1600" dirty="0"/>
            </a:p>
            <a:p>
              <a:pPr>
                <a:spcAft>
                  <a:spcPts val="600"/>
                </a:spcAft>
                <a:defRPr sz="1200" b="0"/>
              </a:pPr>
              <a:r>
                <a:rPr sz="1400" dirty="0"/>
                <a:t>• Cash flow positive in 7 out of 10 months (70% resilience)</a:t>
              </a:r>
            </a:p>
            <a:p>
              <a:pPr>
                <a:spcAft>
                  <a:spcPts val="600"/>
                </a:spcAft>
                <a:defRPr sz="1200" b="0"/>
              </a:pPr>
              <a:r>
                <a:rPr sz="1400" dirty="0"/>
                <a:t>• Bank flow showed volatility with 4 negative months</a:t>
              </a:r>
            </a:p>
            <a:p>
              <a:pPr>
                <a:spcAft>
                  <a:spcPts val="600"/>
                </a:spcAft>
                <a:defRPr sz="1200" b="0"/>
              </a:pPr>
              <a:r>
                <a:rPr sz="1400" dirty="0"/>
                <a:t>• September had the largest bank outflow (-₹3.4L)</a:t>
              </a:r>
            </a:p>
            <a:p>
              <a:pPr>
                <a:spcAft>
                  <a:spcPts val="600"/>
                </a:spcAft>
                <a:defRPr sz="1200" b="0"/>
              </a:pPr>
              <a:r>
                <a:rPr sz="1400" dirty="0"/>
                <a:t>• Cash collections remained consistent throughout</a:t>
              </a:r>
            </a:p>
            <a:p>
              <a:pPr>
                <a:spcAft>
                  <a:spcPts val="600"/>
                </a:spcAft>
                <a:defRPr sz="1200" b="0"/>
              </a:pPr>
              <a:endParaRPr sz="14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275322-5F80-1C6B-1E0B-4AC06D3B32D6}"/>
                </a:ext>
              </a:extLst>
            </p:cNvPr>
            <p:cNvSpPr txBox="1"/>
            <p:nvPr/>
          </p:nvSpPr>
          <p:spPr>
            <a:xfrm>
              <a:off x="4367876" y="3711163"/>
              <a:ext cx="3729644" cy="2262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200" b="0"/>
              </a:pPr>
              <a:endParaRPr sz="1400" dirty="0"/>
            </a:p>
            <a:p>
              <a:pPr>
                <a:spcAft>
                  <a:spcPts val="600"/>
                </a:spcAft>
                <a:defRPr sz="1400" b="1"/>
              </a:pPr>
              <a:r>
                <a:rPr sz="1600" dirty="0"/>
                <a:t>RECOMMENDATIONS:</a:t>
              </a:r>
              <a:endParaRPr lang="en-IN" sz="1600" dirty="0"/>
            </a:p>
            <a:p>
              <a:pPr>
                <a:spcAft>
                  <a:spcPts val="600"/>
                </a:spcAft>
                <a:defRPr sz="1400" b="1"/>
              </a:pPr>
              <a:endParaRPr sz="1600" dirty="0"/>
            </a:p>
            <a:p>
              <a:pPr>
                <a:spcAft>
                  <a:spcPts val="600"/>
                </a:spcAft>
                <a:defRPr sz="1200" b="0"/>
              </a:pPr>
              <a:r>
                <a:rPr sz="1400" dirty="0"/>
                <a:t>• Maintain minimum ₹5L bank balance at all times</a:t>
              </a:r>
            </a:p>
            <a:p>
              <a:pPr>
                <a:spcAft>
                  <a:spcPts val="600"/>
                </a:spcAft>
                <a:defRPr sz="1200" b="0"/>
              </a:pPr>
              <a:r>
                <a:rPr sz="1400" dirty="0"/>
                <a:t>• Implement 13-week rolling cash forecast</a:t>
              </a:r>
            </a:p>
            <a:p>
              <a:pPr>
                <a:spcAft>
                  <a:spcPts val="600"/>
                </a:spcAft>
                <a:defRPr sz="1200" b="0"/>
              </a:pPr>
              <a:r>
                <a:rPr sz="1400" dirty="0"/>
                <a:t>• Improve collection efficiency and payment terms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D9603C-9711-8A6A-B5CF-2362A4C4DDA6}"/>
              </a:ext>
            </a:extLst>
          </p:cNvPr>
          <p:cNvGrpSpPr/>
          <p:nvPr/>
        </p:nvGrpSpPr>
        <p:grpSpPr>
          <a:xfrm>
            <a:off x="914400" y="2622724"/>
            <a:ext cx="7406640" cy="1005840"/>
            <a:chOff x="914400" y="1828800"/>
            <a:chExt cx="7406640" cy="118872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DD039EC-D6CB-7DFB-4D4F-3635CE24E748}"/>
                </a:ext>
              </a:extLst>
            </p:cNvPr>
            <p:cNvSpPr/>
            <p:nvPr/>
          </p:nvSpPr>
          <p:spPr>
            <a:xfrm>
              <a:off x="914400" y="1828800"/>
              <a:ext cx="2286000" cy="118872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1376472-7914-A240-1462-5B60E10F6C24}"/>
                </a:ext>
              </a:extLst>
            </p:cNvPr>
            <p:cNvSpPr txBox="1"/>
            <p:nvPr/>
          </p:nvSpPr>
          <p:spPr>
            <a:xfrm>
              <a:off x="1312580" y="1920240"/>
              <a:ext cx="1489639" cy="32736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dirty="0"/>
                <a:t>BANK </a:t>
              </a:r>
              <a:r>
                <a:rPr lang="en-IN" dirty="0"/>
                <a:t>NET ADDITION</a:t>
              </a:r>
              <a:endParaRPr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0C1E35D-F6C7-6F99-3B54-E11E7E83032F}"/>
                </a:ext>
              </a:extLst>
            </p:cNvPr>
            <p:cNvSpPr txBox="1"/>
            <p:nvPr/>
          </p:nvSpPr>
          <p:spPr>
            <a:xfrm>
              <a:off x="1548285" y="2194560"/>
              <a:ext cx="1018227" cy="54560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rPr dirty="0"/>
                <a:t>₹</a:t>
              </a:r>
              <a:r>
                <a:rPr lang="en-IN" dirty="0"/>
                <a:t>1.85</a:t>
              </a:r>
              <a:r>
                <a:rPr dirty="0"/>
                <a:t>L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6AC7FB2-C7B9-8B63-CB03-5AC5E9936EC3}"/>
                </a:ext>
              </a:extLst>
            </p:cNvPr>
            <p:cNvSpPr/>
            <p:nvPr/>
          </p:nvSpPr>
          <p:spPr>
            <a:xfrm>
              <a:off x="3474720" y="1828800"/>
              <a:ext cx="2286000" cy="118872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ED35EB7-2D21-D2A0-F2DC-4591A14AFF7F}"/>
                </a:ext>
              </a:extLst>
            </p:cNvPr>
            <p:cNvSpPr txBox="1"/>
            <p:nvPr/>
          </p:nvSpPr>
          <p:spPr>
            <a:xfrm>
              <a:off x="4062119" y="1920240"/>
              <a:ext cx="1111202" cy="32736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dirty="0"/>
                <a:t>CASH </a:t>
              </a:r>
              <a:r>
                <a:rPr lang="en-IN" dirty="0"/>
                <a:t>IN HAND</a:t>
              </a:r>
              <a:endParaRPr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8FF7366-AE76-4CC5-B865-1A2F5F5FAAC3}"/>
                </a:ext>
              </a:extLst>
            </p:cNvPr>
            <p:cNvSpPr txBox="1"/>
            <p:nvPr/>
          </p:nvSpPr>
          <p:spPr>
            <a:xfrm>
              <a:off x="4030859" y="2194560"/>
              <a:ext cx="1173719" cy="54560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rPr dirty="0"/>
                <a:t>₹</a:t>
              </a:r>
              <a:r>
                <a:rPr lang="en-IN" dirty="0"/>
                <a:t>14.78</a:t>
              </a:r>
              <a:r>
                <a:rPr dirty="0"/>
                <a:t>L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437728C-3089-6B7F-2CF4-92BDEFB83D6D}"/>
                </a:ext>
              </a:extLst>
            </p:cNvPr>
            <p:cNvSpPr/>
            <p:nvPr/>
          </p:nvSpPr>
          <p:spPr>
            <a:xfrm>
              <a:off x="6035040" y="1828800"/>
              <a:ext cx="2286000" cy="1188720"/>
            </a:xfrm>
            <a:prstGeom prst="rect">
              <a:avLst/>
            </a:prstGeom>
            <a:solidFill>
              <a:srgbClr val="003366"/>
            </a:solidFill>
            <a:ln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1CBBFE-ADEB-A94F-8C04-421B82B2A17D}"/>
                </a:ext>
              </a:extLst>
            </p:cNvPr>
            <p:cNvSpPr txBox="1"/>
            <p:nvPr/>
          </p:nvSpPr>
          <p:spPr>
            <a:xfrm>
              <a:off x="6718556" y="1920240"/>
              <a:ext cx="918970" cy="32736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rPr lang="en-IN" dirty="0"/>
                <a:t>NET PROFIT</a:t>
              </a:r>
              <a:endParaRPr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96779CE-61D5-4983-0723-EB7A2F48FEB8}"/>
                </a:ext>
              </a:extLst>
            </p:cNvPr>
            <p:cNvSpPr txBox="1"/>
            <p:nvPr/>
          </p:nvSpPr>
          <p:spPr>
            <a:xfrm>
              <a:off x="6591181" y="2194560"/>
              <a:ext cx="1173719" cy="54560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</a:defRPr>
              </a:pPr>
              <a:r>
                <a:rPr dirty="0"/>
                <a:t>₹</a:t>
              </a:r>
              <a:r>
                <a:rPr lang="en-IN" dirty="0"/>
                <a:t>16.63</a:t>
              </a:r>
              <a:r>
                <a:rPr dirty="0"/>
                <a:t>L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3CF15A-5AD4-6A26-71C7-6BCC0BD3C806}"/>
                </a:ext>
              </a:extLst>
            </p:cNvPr>
            <p:cNvSpPr txBox="1"/>
            <p:nvPr/>
          </p:nvSpPr>
          <p:spPr>
            <a:xfrm>
              <a:off x="6035040" y="2606040"/>
              <a:ext cx="22860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100%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F1B2072-286A-9E2A-102E-2178C35B5FC0}"/>
              </a:ext>
            </a:extLst>
          </p:cNvPr>
          <p:cNvSpPr txBox="1"/>
          <p:nvPr/>
        </p:nvSpPr>
        <p:spPr>
          <a:xfrm>
            <a:off x="4413977" y="3245518"/>
            <a:ext cx="4074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rPr lang="en-IN" dirty="0"/>
              <a:t>89</a:t>
            </a:r>
            <a:r>
              <a:rPr dirty="0"/>
              <a:t>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24CC32-FD8C-C3FF-A409-EFB63321EF2F}"/>
              </a:ext>
            </a:extLst>
          </p:cNvPr>
          <p:cNvSpPr txBox="1"/>
          <p:nvPr/>
        </p:nvSpPr>
        <p:spPr>
          <a:xfrm>
            <a:off x="1862893" y="3255924"/>
            <a:ext cx="4074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rPr lang="en-IN" dirty="0"/>
              <a:t>11</a:t>
            </a:r>
            <a:r>
              <a:rPr dirty="0"/>
              <a:t>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0ACE-A2FD-8E65-93E8-654205B0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4720FC-7EF2-CFA2-77A3-6446353CC5C6}"/>
              </a:ext>
            </a:extLst>
          </p:cNvPr>
          <p:cNvSpPr/>
          <p:nvPr/>
        </p:nvSpPr>
        <p:spPr>
          <a:xfrm>
            <a:off x="0" y="0"/>
            <a:ext cx="9144000" cy="248458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84541-D7B7-94EE-7E8C-046A67A49872}"/>
              </a:ext>
            </a:extLst>
          </p:cNvPr>
          <p:cNvSpPr txBox="1"/>
          <p:nvPr/>
        </p:nvSpPr>
        <p:spPr>
          <a:xfrm>
            <a:off x="3025236" y="869027"/>
            <a:ext cx="30935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2FF"/>
                </a:solidFill>
              </a:defRPr>
            </a:pPr>
            <a:r>
              <a:rPr lang="en-IN" dirty="0"/>
              <a:t>Financial Analysis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BD00B-849A-4A19-67EC-BF0A3EB2CD00}"/>
              </a:ext>
            </a:extLst>
          </p:cNvPr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F7F7F"/>
                </a:solidFill>
              </a:defRPr>
            </a:pPr>
            <a:r>
              <a:rPr dirty="0"/>
              <a:t>Prepared for: CEO &amp; Management Team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64828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Revenue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Breakdown (Jan-Oct 2025)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72323"/>
              </p:ext>
            </p:extLst>
          </p:nvPr>
        </p:nvGraphicFramePr>
        <p:xfrm>
          <a:off x="731520" y="1645920"/>
          <a:ext cx="7680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Month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Revenue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OpEx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Net Profit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NP %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1,110,615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546,768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385,901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34.7%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Feb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629,780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440,076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-371,319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-59.0%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962,581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533,648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3,142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0.3%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Apr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783,448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326,278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20,615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2.6%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855,204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455,958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-59,086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-6.9%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Jun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965,456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502,990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195,833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20.3%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1,347,544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270,102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839,366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62.3%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Aug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1,243,094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489,903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604,753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48.6%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796,105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693,200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-40,448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-5.1%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Oct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701,445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424,798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84,466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200"/>
                        <a:t>12.0%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/>
                        <a:t>TOTAL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rPr sz="1400"/>
                        <a:t>9,395,272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rPr sz="1400"/>
                        <a:t>4,683,721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rPr sz="1400"/>
                        <a:t>1,663,223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rPr sz="1400" dirty="0"/>
                        <a:t>17.7%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Performance (Lakhs)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Gross Profit vs Net Profit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Net Profit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Net Profit (Lakhs)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Operating Expense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OpEx as % of Revenue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t>Target: &lt;45%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4396-A6BC-DD2D-B5C0-4A027FDF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4F0F26-8A5E-EE2A-2918-E1E4C7C93F7B}"/>
              </a:ext>
            </a:extLst>
          </p:cNvPr>
          <p:cNvSpPr/>
          <p:nvPr/>
        </p:nvSpPr>
        <p:spPr>
          <a:xfrm>
            <a:off x="0" y="0"/>
            <a:ext cx="9144000" cy="248458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282B6-0E1E-1E38-B0BF-B1480B1C2D93}"/>
              </a:ext>
            </a:extLst>
          </p:cNvPr>
          <p:cNvSpPr txBox="1"/>
          <p:nvPr/>
        </p:nvSpPr>
        <p:spPr>
          <a:xfrm>
            <a:off x="1775793" y="869027"/>
            <a:ext cx="55924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2FF"/>
                </a:solidFill>
              </a:defRPr>
            </a:pPr>
            <a:r>
              <a:rPr lang="en-IN" dirty="0"/>
              <a:t>Financial Projections for FY 2025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56DCB-BD2D-8461-602A-3CF392BF4831}"/>
              </a:ext>
            </a:extLst>
          </p:cNvPr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F7F7F"/>
                </a:solidFill>
              </a:defRPr>
            </a:pPr>
            <a:r>
              <a:rPr dirty="0"/>
              <a:t>Prepared for: CEO &amp; Management Team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80043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Nov-Dec 2025 &amp; Full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YEAR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₹1.11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Jan-Dec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YEAR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₹23.25L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20.9% 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011680" cy="1188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9/12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75%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856717"/>
              </p:ext>
            </p:extLst>
          </p:nvPr>
        </p:nvGraphicFramePr>
        <p:xfrm>
          <a:off x="1371600" y="3474720"/>
          <a:ext cx="6400800" cy="229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Nov-25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Dec-25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Total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850,000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900,000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1,750,000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Operating Expenses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425,000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450,000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875,000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800"/>
                        <a:t>Net Profit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rPr sz="1800"/>
                        <a:t>321,000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rPr sz="1800"/>
                        <a:t>341,000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rPr sz="1800" dirty="0"/>
                        <a:t>662,000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Profit &amp; Loss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Projected Full Year 2025 (Jan-Dec)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417" y="1645919"/>
            <a:ext cx="7943273" cy="4819535"/>
          </a:xfrm>
          <a:prstGeom prst="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5852160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INCOME        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Arial Rounded MT Bold" panose="020F0704030504030204" pitchFamily="34" charset="0"/>
              </a:rPr>
              <a:t>  Total Revenue          </a:t>
            </a:r>
            <a:r>
              <a:rPr lang="en-IN" sz="1600" dirty="0">
                <a:latin typeface="Arial Rounded MT Bold" panose="020F0704030504030204" pitchFamily="34" charset="0"/>
              </a:rPr>
              <a:t>	</a:t>
            </a:r>
            <a:r>
              <a:rPr sz="1600" dirty="0">
                <a:latin typeface="Arial Rounded MT Bold" panose="020F0704030504030204" pitchFamily="34" charset="0"/>
              </a:rPr>
              <a:t>₹     11,145,272   100.0%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Arial Rounded MT Bold" panose="020F0704030504030204" pitchFamily="34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COST OF OPERATIONS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Arial Rounded MT Bold" panose="020F0704030504030204" pitchFamily="34" charset="0"/>
              </a:rPr>
              <a:t>  Operating Expenses     ₹      5,558,721     49.9%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Arial Rounded MT Bold" panose="020F0704030504030204" pitchFamily="34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400" b="1">
                <a:solidFill>
                  <a:srgbClr val="00B050"/>
                </a:solidFill>
                <a:latin typeface="Courier New"/>
              </a:defRPr>
            </a:pPr>
            <a:r>
              <a:rPr sz="1600" dirty="0">
                <a:latin typeface="Arial Rounded MT Bold" panose="020F0704030504030204" pitchFamily="34" charset="0"/>
              </a:rPr>
              <a:t>GROSS PROFIT            </a:t>
            </a:r>
            <a:r>
              <a:rPr lang="en-IN" sz="1600" dirty="0">
                <a:latin typeface="Arial Rounded MT Bold" panose="020F0704030504030204" pitchFamily="34" charset="0"/>
              </a:rPr>
              <a:t>			</a:t>
            </a:r>
            <a:r>
              <a:rPr sz="1600" dirty="0">
                <a:latin typeface="Arial Rounded MT Bold" panose="020F0704030504030204" pitchFamily="34" charset="0"/>
              </a:rPr>
              <a:t> ₹      5,586,551     50.1%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Arial Rounded MT Bold" panose="020F0704030504030204" pitchFamily="34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OTHER EXPENSES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Arial Rounded MT Bold" panose="020F0704030504030204" pitchFamily="34" charset="0"/>
              </a:rPr>
              <a:t>  Capital Expenditure*   ₹      2,086,756     18.7%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Arial Rounded MT Bold" panose="020F0704030504030204" pitchFamily="34" charset="0"/>
              </a:rPr>
              <a:t>  Personal Expenses      ₹      1,136,574     10.2%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Arial Rounded MT Bold" panose="020F0704030504030204" pitchFamily="34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400" b="1">
                <a:solidFill>
                  <a:srgbClr val="00B050"/>
                </a:solidFill>
                <a:latin typeface="Courier New"/>
              </a:defRPr>
            </a:pPr>
            <a:r>
              <a:rPr sz="1600" dirty="0">
                <a:latin typeface="Arial Rounded MT Bold" panose="020F0704030504030204" pitchFamily="34" charset="0"/>
              </a:rPr>
              <a:t>NET PROFIT               </a:t>
            </a:r>
            <a:r>
              <a:rPr lang="en-IN" sz="1600" dirty="0">
                <a:latin typeface="Arial Rounded MT Bold" panose="020F0704030504030204" pitchFamily="34" charset="0"/>
              </a:rPr>
              <a:t>			</a:t>
            </a:r>
            <a:r>
              <a:rPr sz="1600" dirty="0">
                <a:latin typeface="Arial Rounded MT Bold" panose="020F0704030504030204" pitchFamily="34" charset="0"/>
              </a:rPr>
              <a:t>₹      2,325,223     20.9%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Arial Rounded MT Bold" panose="020F0704030504030204" pitchFamily="34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200" dirty="0">
                <a:latin typeface="Arial Rounded MT Bold" panose="020F0704030504030204" pitchFamily="34" charset="0"/>
              </a:rPr>
              <a:t>  *Includes equipment, cash </a:t>
            </a:r>
            <a:r>
              <a:rPr sz="1200" dirty="0" err="1">
                <a:latin typeface="Arial Rounded MT Bold" panose="020F0704030504030204" pitchFamily="34" charset="0"/>
              </a:rPr>
              <a:t>CapEx</a:t>
            </a:r>
            <a:r>
              <a:rPr sz="1200" dirty="0">
                <a:latin typeface="Arial Rounded MT Bold" panose="020F0704030504030204" pitchFamily="34" charset="0"/>
              </a:rPr>
              <a:t> &amp; loan interest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As of October 31,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591048" cy="2562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ASSETS   </a:t>
            </a:r>
            <a:r>
              <a:rPr sz="1200" dirty="0">
                <a:latin typeface="Arial Rounded MT Bold" panose="020F0704030504030204" pitchFamily="34" charset="0"/>
              </a:rPr>
              <a:t>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Current Assets: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  Cash in Hand      </a:t>
            </a:r>
            <a:r>
              <a:rPr lang="en-IN" sz="1400" dirty="0">
                <a:latin typeface="Arial Rounded MT Bold" panose="020F0704030504030204" pitchFamily="34" charset="0"/>
              </a:rPr>
              <a:t>		</a:t>
            </a:r>
            <a:r>
              <a:rPr sz="1400" dirty="0">
                <a:latin typeface="Arial Rounded MT Bold" panose="020F0704030504030204" pitchFamily="34" charset="0"/>
              </a:rPr>
              <a:t>₹   2,247,189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  Bank Balance     </a:t>
            </a:r>
            <a:r>
              <a:rPr lang="en-IN" sz="1400" dirty="0">
                <a:latin typeface="Arial Rounded MT Bold" panose="020F0704030504030204" pitchFamily="34" charset="0"/>
              </a:rPr>
              <a:t>	</a:t>
            </a:r>
            <a:r>
              <a:rPr sz="1400" dirty="0">
                <a:latin typeface="Arial Rounded MT Bold" panose="020F0704030504030204" pitchFamily="34" charset="0"/>
              </a:rPr>
              <a:t> </a:t>
            </a:r>
            <a:r>
              <a:rPr lang="en-IN" sz="1400" dirty="0">
                <a:latin typeface="Arial Rounded MT Bold" panose="020F0704030504030204" pitchFamily="34" charset="0"/>
              </a:rPr>
              <a:t>	</a:t>
            </a:r>
            <a:r>
              <a:rPr sz="1400" dirty="0">
                <a:latin typeface="Arial Rounded MT Bold" panose="020F0704030504030204" pitchFamily="34" charset="0"/>
              </a:rPr>
              <a:t>₹     </a:t>
            </a:r>
            <a:r>
              <a:rPr lang="en-IN" sz="1400" dirty="0">
                <a:latin typeface="Arial Rounded MT Bold" panose="020F0704030504030204" pitchFamily="34" charset="0"/>
              </a:rPr>
              <a:t>  </a:t>
            </a:r>
            <a:r>
              <a:rPr sz="1400" dirty="0">
                <a:latin typeface="Arial Rounded MT Bold" panose="020F0704030504030204" pitchFamily="34" charset="0"/>
              </a:rPr>
              <a:t>954,034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  Inventory         </a:t>
            </a:r>
            <a:r>
              <a:rPr lang="en-IN" sz="1400" dirty="0">
                <a:latin typeface="Arial Rounded MT Bold" panose="020F0704030504030204" pitchFamily="34" charset="0"/>
              </a:rPr>
              <a:t>			</a:t>
            </a:r>
            <a:r>
              <a:rPr sz="1400" dirty="0">
                <a:latin typeface="Arial Rounded MT Bold" panose="020F0704030504030204" pitchFamily="34" charset="0"/>
              </a:rPr>
              <a:t>₹   1,000,000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  Accounts Receivable</a:t>
            </a:r>
            <a:r>
              <a:rPr lang="en-IN" sz="1400" dirty="0">
                <a:latin typeface="Arial Rounded MT Bold" panose="020F0704030504030204" pitchFamily="34" charset="0"/>
              </a:rPr>
              <a:t>	</a:t>
            </a:r>
            <a:r>
              <a:rPr sz="1400" dirty="0">
                <a:latin typeface="Arial Rounded MT Bold" panose="020F0704030504030204" pitchFamily="34" charset="0"/>
              </a:rPr>
              <a:t>₹     </a:t>
            </a:r>
            <a:r>
              <a:rPr lang="en-IN" sz="1400" dirty="0">
                <a:latin typeface="Arial Rounded MT Bold" panose="020F0704030504030204" pitchFamily="34" charset="0"/>
              </a:rPr>
              <a:t>  </a:t>
            </a:r>
            <a:r>
              <a:rPr sz="1400" dirty="0">
                <a:latin typeface="Arial Rounded MT Bold" panose="020F0704030504030204" pitchFamily="34" charset="0"/>
              </a:rPr>
              <a:t>500,000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                    </a:t>
            </a:r>
          </a:p>
          <a:p>
            <a:pPr>
              <a:spcAft>
                <a:spcPts val="300"/>
              </a:spcAft>
              <a:defRPr sz="1100" b="1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Fixed Assets (Net)  </a:t>
            </a:r>
            <a:r>
              <a:rPr lang="en-IN" sz="1400" dirty="0">
                <a:latin typeface="Arial Rounded MT Bold" panose="020F0704030504030204" pitchFamily="34" charset="0"/>
              </a:rPr>
              <a:t>		</a:t>
            </a:r>
            <a:r>
              <a:rPr sz="1400" dirty="0">
                <a:latin typeface="Arial Rounded MT Bold" panose="020F0704030504030204" pitchFamily="34" charset="0"/>
              </a:rPr>
              <a:t>₹   8,086,756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200" dirty="0">
                <a:latin typeface="Arial Rounded MT Bold" panose="020F0704030504030204" pitchFamily="34" charset="0"/>
              </a:rPr>
              <a:t>TOTAL ASSETS        </a:t>
            </a:r>
            <a:r>
              <a:rPr lang="en-IN" sz="1200" dirty="0">
                <a:latin typeface="Arial Rounded MT Bold" panose="020F0704030504030204" pitchFamily="34" charset="0"/>
              </a:rPr>
              <a:t>		</a:t>
            </a:r>
            <a:r>
              <a:rPr sz="1200" dirty="0">
                <a:latin typeface="Arial Rounded MT Bold" panose="020F0704030504030204" pitchFamily="34" charset="0"/>
              </a:rPr>
              <a:t>₹  </a:t>
            </a:r>
            <a:r>
              <a:rPr lang="en-IN" sz="1200" dirty="0">
                <a:latin typeface="Arial Rounded MT Bold" panose="020F0704030504030204" pitchFamily="34" charset="0"/>
              </a:rPr>
              <a:t>  </a:t>
            </a:r>
            <a:r>
              <a:rPr sz="1200" dirty="0">
                <a:latin typeface="Arial Rounded MT Bold" panose="020F0704030504030204" pitchFamily="34" charset="0"/>
              </a:rPr>
              <a:t>12,787,979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4114800" cy="45720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3591048" cy="40241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LIABILITIES &amp; EQUITY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      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Total Liabilities   </a:t>
            </a:r>
            <a:r>
              <a:rPr lang="en-IN" sz="1400" dirty="0">
                <a:latin typeface="Arial Rounded MT Bold" panose="020F0704030504030204" pitchFamily="34" charset="0"/>
              </a:rPr>
              <a:t>		</a:t>
            </a:r>
            <a:r>
              <a:rPr sz="1400" dirty="0">
                <a:latin typeface="Arial Rounded MT Bold" panose="020F0704030504030204" pitchFamily="34" charset="0"/>
              </a:rPr>
              <a:t>₹   3,300,000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      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Owner's Equity      </a:t>
            </a:r>
            <a:r>
              <a:rPr lang="en-IN" sz="1400" dirty="0">
                <a:latin typeface="Arial Rounded MT Bold" panose="020F0704030504030204" pitchFamily="34" charset="0"/>
              </a:rPr>
              <a:t>		</a:t>
            </a:r>
            <a:r>
              <a:rPr sz="1400" dirty="0">
                <a:latin typeface="Arial Rounded MT Bold" panose="020F0704030504030204" pitchFamily="34" charset="0"/>
              </a:rPr>
              <a:t>₹   9,487,979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200" dirty="0">
                <a:latin typeface="Arial Rounded MT Bold" panose="020F0704030504030204" pitchFamily="34" charset="0"/>
              </a:rPr>
              <a:t>TOTAL L &amp; E         </a:t>
            </a:r>
            <a:r>
              <a:rPr lang="en-IN" sz="1200" dirty="0">
                <a:latin typeface="Arial Rounded MT Bold" panose="020F0704030504030204" pitchFamily="34" charset="0"/>
              </a:rPr>
              <a:t>			</a:t>
            </a:r>
            <a:r>
              <a:rPr sz="1200" dirty="0">
                <a:latin typeface="Arial Rounded MT Bold" panose="020F0704030504030204" pitchFamily="34" charset="0"/>
              </a:rPr>
              <a:t>₹  </a:t>
            </a:r>
            <a:r>
              <a:rPr lang="en-IN" sz="1200" dirty="0">
                <a:latin typeface="Arial Rounded MT Bold" panose="020F0704030504030204" pitchFamily="34" charset="0"/>
              </a:rPr>
              <a:t>  </a:t>
            </a:r>
            <a:r>
              <a:rPr sz="1200" dirty="0">
                <a:latin typeface="Arial Rounded MT Bold" panose="020F0704030504030204" pitchFamily="34" charset="0"/>
              </a:rPr>
              <a:t>12,787,979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 </a:t>
            </a:r>
            <a:endParaRPr lang="en-IN" sz="1400" dirty="0">
              <a:latin typeface="Arial Rounded MT Bold" panose="020F0704030504030204" pitchFamily="34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400" dirty="0">
              <a:latin typeface="Arial Rounded MT Bold" panose="020F0704030504030204" pitchFamily="34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400" dirty="0">
              <a:latin typeface="Arial Rounded MT Bold" panose="020F0704030504030204" pitchFamily="34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400" dirty="0">
              <a:latin typeface="Arial Rounded MT Bold" panose="020F0704030504030204" pitchFamily="34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400" dirty="0">
              <a:latin typeface="Arial Rounded MT Bold" panose="020F0704030504030204" pitchFamily="34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200" dirty="0">
                <a:latin typeface="Arial Rounded MT Bold" panose="020F0704030504030204" pitchFamily="34" charset="0"/>
              </a:rPr>
              <a:t>KEY RATIOS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Current Ratio       </a:t>
            </a:r>
            <a:r>
              <a:rPr lang="en-IN" sz="1400" dirty="0">
                <a:latin typeface="Arial Rounded MT Bold" panose="020F0704030504030204" pitchFamily="34" charset="0"/>
              </a:rPr>
              <a:t> </a:t>
            </a:r>
            <a:r>
              <a:rPr sz="1400" dirty="0">
                <a:latin typeface="Arial Rounded MT Bold" panose="020F0704030504030204" pitchFamily="34" charset="0"/>
              </a:rPr>
              <a:t>2.62:1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400" dirty="0">
                <a:latin typeface="Arial Rounded MT Bold" panose="020F0704030504030204" pitchFamily="34" charset="0"/>
              </a:rPr>
              <a:t>Debt-to-Equity      0.42:1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6F3B1-797B-1261-9474-B555EC93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D17B42-B1DC-B7E9-B9B5-1171A51B85AF}"/>
              </a:ext>
            </a:extLst>
          </p:cNvPr>
          <p:cNvSpPr/>
          <p:nvPr/>
        </p:nvSpPr>
        <p:spPr>
          <a:xfrm>
            <a:off x="0" y="0"/>
            <a:ext cx="9144000" cy="248458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E046D-3A08-76D8-F7A9-FD2407F1E0EA}"/>
              </a:ext>
            </a:extLst>
          </p:cNvPr>
          <p:cNvSpPr txBox="1"/>
          <p:nvPr/>
        </p:nvSpPr>
        <p:spPr>
          <a:xfrm>
            <a:off x="2197896" y="869027"/>
            <a:ext cx="47482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2FF"/>
                </a:solidFill>
              </a:defRPr>
            </a:pPr>
            <a:r>
              <a:rPr lang="en-IN" dirty="0"/>
              <a:t>Key Performance Indicators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134311-37F3-7EFB-D116-F2C8B3F5EF98}"/>
              </a:ext>
            </a:extLst>
          </p:cNvPr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F7F7F"/>
                </a:solidFill>
              </a:defRPr>
            </a:pPr>
            <a:r>
              <a:rPr dirty="0"/>
              <a:t>Prepared for: CEO &amp; Management Team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05626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Current Performance vs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Gross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&gt;50%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737360"/>
            <a:ext cx="1645920" cy="10058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17.7%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&gt;25%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737360"/>
            <a:ext cx="1645920" cy="10058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OpEx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&lt;45%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7/10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737360"/>
            <a:ext cx="914400" cy="10058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1031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B+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753779"/>
              </p:ext>
            </p:extLst>
          </p:nvPr>
        </p:nvGraphicFramePr>
        <p:xfrm>
          <a:off x="914400" y="3108960"/>
          <a:ext cx="73152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Current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Target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Status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Monthly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₹9.40L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₹10L+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Close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Revenue Volatility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114%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&lt;20%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Operating Expense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&lt;45%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Negative Months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3/10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0/10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Concern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800"/>
                        <a:t>Cash Flow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rPr sz="1800"/>
                        <a:t>Positive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rPr sz="1800"/>
                        <a:t>Positive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0B050"/>
                          </a:solidFill>
                        </a:defRPr>
                      </a:pPr>
                      <a:r>
                        <a:rPr sz="1800" dirty="0"/>
                        <a:t>Good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Critical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Top 3 Priorities Requiring Immediate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5010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t>ISSUE #1: REVENUE VOLATILITY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7"/>
            <a:ext cx="2383986" cy="6882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100"/>
              <a:t>• 114% variance (₹6.3L to ₹13.5L)</a:t>
            </a:r>
            <a:br>
              <a:rPr sz="1100"/>
            </a:br>
            <a:r>
              <a:rPr sz="1100"/>
              <a:t>• Q3 decline: 25% drop from July peak</a:t>
            </a:r>
            <a:br>
              <a:rPr sz="1100"/>
            </a:br>
            <a:r>
              <a:rPr sz="1100"/>
              <a:t>• Unpredictable monthly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29967"/>
            <a:ext cx="1930337" cy="8913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100">
                <a:solidFill>
                  <a:schemeClr val="accent5">
                    <a:lumMod val="75000"/>
                  </a:schemeClr>
                </a:solidFill>
              </a:rPr>
              <a:t>ACTIONS:</a:t>
            </a:r>
            <a:br>
              <a:rPr sz="1100">
                <a:solidFill>
                  <a:schemeClr val="accent5">
                    <a:lumMod val="75000"/>
                  </a:schemeClr>
                </a:solidFill>
              </a:rPr>
            </a:br>
            <a:r>
              <a:rPr sz="1100">
                <a:solidFill>
                  <a:schemeClr val="accent5">
                    <a:lumMod val="75000"/>
                  </a:schemeClr>
                </a:solidFill>
              </a:rPr>
              <a:t>• Patient retention analysis</a:t>
            </a:r>
            <a:br>
              <a:rPr sz="1100">
                <a:solidFill>
                  <a:schemeClr val="accent5">
                    <a:lumMod val="75000"/>
                  </a:schemeClr>
                </a:solidFill>
              </a:rPr>
            </a:br>
            <a:r>
              <a:rPr sz="1100">
                <a:solidFill>
                  <a:schemeClr val="accent5">
                    <a:lumMod val="75000"/>
                  </a:schemeClr>
                </a:solidFill>
              </a:rPr>
              <a:t>• Launch marketing campaign</a:t>
            </a:r>
            <a:br>
              <a:rPr sz="1100">
                <a:solidFill>
                  <a:schemeClr val="accent5">
                    <a:lumMod val="75000"/>
                  </a:schemeClr>
                </a:solidFill>
              </a:rPr>
            </a:br>
            <a:r>
              <a:rPr sz="1100">
                <a:solidFill>
                  <a:schemeClr val="accent5">
                    <a:lumMod val="75000"/>
                  </a:schemeClr>
                </a:solidFill>
              </a:rPr>
              <a:t>• Analyze July success factors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01666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t>ISSUE #2: SEPTEMBER EXPENSE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2390398" cy="6882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100"/>
              <a:t>• Operating expenses: 87% of revenue</a:t>
            </a:r>
            <a:br>
              <a:rPr sz="1100"/>
            </a:br>
            <a:r>
              <a:rPr sz="1100"/>
              <a:t>• ₹6.93L OpEx on ₹7.96L revenue</a:t>
            </a:r>
            <a:br>
              <a:rPr sz="1100"/>
            </a:br>
            <a:r>
              <a:rPr sz="1100"/>
              <a:t>• Near-zero profitability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93008"/>
            <a:ext cx="2066591" cy="8913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100">
                <a:solidFill>
                  <a:schemeClr val="accent5">
                    <a:lumMod val="75000"/>
                  </a:schemeClr>
                </a:solidFill>
              </a:rPr>
              <a:t>ACTIONS:</a:t>
            </a:r>
            <a:br>
              <a:rPr sz="1100">
                <a:solidFill>
                  <a:schemeClr val="accent5">
                    <a:lumMod val="75000"/>
                  </a:schemeClr>
                </a:solidFill>
              </a:rPr>
            </a:br>
            <a:r>
              <a:rPr sz="1100">
                <a:solidFill>
                  <a:schemeClr val="accent5">
                    <a:lumMod val="75000"/>
                  </a:schemeClr>
                </a:solidFill>
              </a:rPr>
              <a:t>• Immediate expense audit</a:t>
            </a:r>
            <a:br>
              <a:rPr sz="1100">
                <a:solidFill>
                  <a:schemeClr val="accent5">
                    <a:lumMod val="75000"/>
                  </a:schemeClr>
                </a:solidFill>
              </a:rPr>
            </a:br>
            <a:r>
              <a:rPr sz="1100">
                <a:solidFill>
                  <a:schemeClr val="accent5">
                    <a:lumMod val="75000"/>
                  </a:schemeClr>
                </a:solidFill>
              </a:rPr>
              <a:t>• Vendor contract renegotiation</a:t>
            </a:r>
            <a:br>
              <a:rPr sz="1100">
                <a:solidFill>
                  <a:schemeClr val="accent5">
                    <a:lumMod val="75000"/>
                  </a:schemeClr>
                </a:solidFill>
              </a:rPr>
            </a:br>
            <a:r>
              <a:rPr sz="1100">
                <a:solidFill>
                  <a:schemeClr val="accent5">
                    <a:lumMod val="75000"/>
                  </a:schemeClr>
                </a:solidFill>
              </a:rPr>
              <a:t>• Monthly expense budgets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40080" y="4709159"/>
            <a:ext cx="26736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900"/>
                </a:solidFill>
              </a:defRPr>
            </a:pPr>
            <a:r>
              <a:t>ISSUE #3: CASH FLOW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2281394" cy="6882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100"/>
              <a:t>• Bank flow negative in 4/10 months</a:t>
            </a:r>
            <a:br>
              <a:rPr sz="1100"/>
            </a:br>
            <a:r>
              <a:rPr sz="1100"/>
              <a:t>• September: -₹3.4L bank outflow</a:t>
            </a:r>
            <a:br>
              <a:rPr sz="1100"/>
            </a:br>
            <a:r>
              <a:rPr sz="1100"/>
              <a:t>• Liquidity risk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956048"/>
            <a:ext cx="2140330" cy="8913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100">
                <a:solidFill>
                  <a:schemeClr val="accent5">
                    <a:lumMod val="75000"/>
                  </a:schemeClr>
                </a:solidFill>
              </a:rPr>
              <a:t>ACTIONS:</a:t>
            </a:r>
            <a:br>
              <a:rPr sz="1100">
                <a:solidFill>
                  <a:schemeClr val="accent5">
                    <a:lumMod val="75000"/>
                  </a:schemeClr>
                </a:solidFill>
              </a:rPr>
            </a:br>
            <a:r>
              <a:rPr sz="1100">
                <a:solidFill>
                  <a:schemeClr val="accent5">
                    <a:lumMod val="75000"/>
                  </a:schemeClr>
                </a:solidFill>
              </a:rPr>
              <a:t>• 13-week rolling cash forecast</a:t>
            </a:r>
            <a:br>
              <a:rPr sz="1100">
                <a:solidFill>
                  <a:schemeClr val="accent5">
                    <a:lumMod val="75000"/>
                  </a:schemeClr>
                </a:solidFill>
              </a:rPr>
            </a:br>
            <a:r>
              <a:rPr sz="1100">
                <a:solidFill>
                  <a:schemeClr val="accent5">
                    <a:lumMod val="75000"/>
                  </a:schemeClr>
                </a:solidFill>
              </a:rPr>
              <a:t>• Maintain ₹5L minimum balance</a:t>
            </a:r>
            <a:br>
              <a:rPr sz="1100">
                <a:solidFill>
                  <a:schemeClr val="accent5">
                    <a:lumMod val="75000"/>
                  </a:schemeClr>
                </a:solidFill>
              </a:rPr>
            </a:br>
            <a:r>
              <a:rPr sz="1100">
                <a:solidFill>
                  <a:schemeClr val="accent5">
                    <a:lumMod val="75000"/>
                  </a:schemeClr>
                </a:solidFill>
              </a:rPr>
              <a:t>• Improve collection efficiency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4 Pillars for Sustainable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070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1. REVENUE STABILIZATION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8376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400" dirty="0">
                <a:solidFill>
                  <a:schemeClr val="accent5">
                    <a:lumMod val="75000"/>
                  </a:schemeClr>
                </a:solidFill>
              </a:rPr>
              <a:t>Target: ₹10L+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277162" cy="103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200"/>
              <a:t>• Patient acquisition programs</a:t>
            </a:r>
            <a:br>
              <a:rPr sz="1200"/>
            </a:br>
            <a:r>
              <a:rPr sz="1200"/>
              <a:t>• Digital marketing (₹30K/month)</a:t>
            </a:r>
            <a:br>
              <a:rPr sz="1200"/>
            </a:br>
            <a:r>
              <a:rPr sz="1200"/>
              <a:t>• Retention initiatives</a:t>
            </a:r>
            <a:br>
              <a:rPr sz="1200"/>
            </a:br>
            <a:r>
              <a:rPr sz="1200"/>
              <a:t>• Corporate partnerships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19066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2. COST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15652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400">
                <a:solidFill>
                  <a:schemeClr val="accent5">
                    <a:lumMod val="75000"/>
                  </a:schemeClr>
                </a:solidFill>
              </a:rPr>
              <a:t>Target: &lt;45% OpEx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1754776" cy="103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200"/>
              <a:t>• Vendor renegotiation</a:t>
            </a:r>
            <a:br>
              <a:rPr sz="1200"/>
            </a:br>
            <a:r>
              <a:rPr sz="1200"/>
              <a:t>• Zero-based budgeting</a:t>
            </a:r>
            <a:br>
              <a:rPr sz="1200"/>
            </a:br>
            <a:r>
              <a:rPr sz="1200"/>
              <a:t>• Staff optimization</a:t>
            </a:r>
            <a:br>
              <a:rPr sz="1200"/>
            </a:br>
            <a:r>
              <a:rPr sz="1200"/>
              <a:t>• Inventory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24293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3. CASH FLOW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23473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400">
                <a:solidFill>
                  <a:schemeClr val="accent5">
                    <a:lumMod val="75000"/>
                  </a:schemeClr>
                </a:solidFill>
              </a:rPr>
              <a:t>Target: Zero negative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2002921" cy="103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200"/>
              <a:t>• ₹5L minimum balance</a:t>
            </a:r>
            <a:br>
              <a:rPr sz="1200"/>
            </a:br>
            <a:r>
              <a:rPr sz="1200"/>
              <a:t>• 13-week cash forecast</a:t>
            </a:r>
            <a:br>
              <a:rPr sz="1200"/>
            </a:br>
            <a:r>
              <a:rPr sz="1200"/>
              <a:t>• Collection efficiency</a:t>
            </a:r>
            <a:br>
              <a:rPr sz="1200"/>
            </a:br>
            <a:r>
              <a:rPr sz="1200"/>
              <a:t>• Payment term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114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4754880" y="4206240"/>
            <a:ext cx="19479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4. FINANCIAL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526280"/>
            <a:ext cx="23555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400">
                <a:solidFill>
                  <a:schemeClr val="accent5">
                    <a:lumMod val="75000"/>
                  </a:schemeClr>
                </a:solidFill>
              </a:rPr>
              <a:t>Target: Real-time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800600"/>
            <a:ext cx="1848391" cy="103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200"/>
              <a:t>• Daily revenue tracking</a:t>
            </a:r>
            <a:br>
              <a:rPr sz="1200"/>
            </a:br>
            <a:r>
              <a:rPr sz="1200"/>
              <a:t>• Weekly expense review</a:t>
            </a:r>
            <a:br>
              <a:rPr sz="1200"/>
            </a:br>
            <a:r>
              <a:rPr sz="1200"/>
              <a:t>• Monthly business review</a:t>
            </a:r>
            <a:br>
              <a:rPr sz="1200"/>
            </a:br>
            <a:r>
              <a:rPr sz="1200"/>
              <a:t>• KPI scorecards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90-Day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Quarterly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1012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0000"/>
                </a:solidFill>
              </a:defRPr>
            </a:pPr>
            <a:r>
              <a:rPr sz="1400"/>
              <a:t>MONTH 1: STABILIZATION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9076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/>
              <a:t>Days 1-30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832250" cy="15724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400"/>
              <a:t>• Conduct September expense audit</a:t>
            </a:r>
            <a:br>
              <a:rPr sz="1400"/>
            </a:br>
            <a:r>
              <a:rPr sz="1400"/>
              <a:t>• Analyze July revenue drivers</a:t>
            </a:r>
            <a:br>
              <a:rPr sz="1400"/>
            </a:br>
            <a:r>
              <a:rPr sz="1400"/>
              <a:t>• Weekly cash flow reviews</a:t>
            </a:r>
            <a:br>
              <a:rPr sz="1400"/>
            </a:br>
            <a:r>
              <a:rPr sz="1400"/>
              <a:t>• Create expense budgets</a:t>
            </a:r>
            <a:br>
              <a:rPr sz="1400"/>
            </a:br>
            <a:r>
              <a:rPr sz="1400"/>
              <a:t>• Set up KPI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1213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rPr sz="1400"/>
              <a:t>MONTH 2: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31720"/>
            <a:ext cx="9989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/>
              <a:t>Days 31-60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51760"/>
            <a:ext cx="2468496" cy="15724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400"/>
              <a:t>• Launch retention program</a:t>
            </a:r>
            <a:br>
              <a:rPr sz="1400"/>
            </a:br>
            <a:r>
              <a:rPr sz="1400"/>
              <a:t>• Renegotiate vendor contracts</a:t>
            </a:r>
            <a:br>
              <a:rPr sz="1400"/>
            </a:br>
            <a:r>
              <a:rPr sz="1400"/>
              <a:t>• Digital payment incentives</a:t>
            </a:r>
            <a:br>
              <a:rPr sz="1400"/>
            </a:br>
            <a:r>
              <a:rPr sz="1400"/>
              <a:t>• Staff productivity review</a:t>
            </a:r>
            <a:br>
              <a:rPr sz="1400"/>
            </a:br>
            <a:r>
              <a:rPr sz="1400"/>
              <a:t>• Inventory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17036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050"/>
                </a:solidFill>
              </a:defRPr>
            </a:pPr>
            <a:r>
              <a:rPr sz="1400"/>
              <a:t>MONTH 3: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31720"/>
            <a:ext cx="9989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/>
              <a:t>Days 61-90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2304670" cy="15724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400"/>
              <a:t>• Digital marketing campaign</a:t>
            </a:r>
            <a:br>
              <a:rPr sz="1400"/>
            </a:br>
            <a:r>
              <a:rPr sz="1400"/>
              <a:t>• Quarterly business review</a:t>
            </a:r>
            <a:br>
              <a:rPr sz="1400"/>
            </a:br>
            <a:r>
              <a:rPr sz="1400"/>
              <a:t>• Set FY 2026 targets</a:t>
            </a:r>
            <a:br>
              <a:rPr sz="1400"/>
            </a:br>
            <a:r>
              <a:rPr sz="1400"/>
              <a:t>• Plan capacity expansion</a:t>
            </a:r>
            <a:br>
              <a:rPr sz="1400"/>
            </a:br>
            <a:r>
              <a:rPr sz="1400"/>
              <a:t>• Measure 90-day results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FB8DD-0619-1B29-2858-58696C0B2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AEE73-3837-37F6-A3AC-86673B6AF58E}"/>
              </a:ext>
            </a:extLst>
          </p:cNvPr>
          <p:cNvSpPr/>
          <p:nvPr/>
        </p:nvSpPr>
        <p:spPr>
          <a:xfrm>
            <a:off x="0" y="0"/>
            <a:ext cx="9144000" cy="248458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B173D-BF87-52B9-3307-E83F63EA37F2}"/>
              </a:ext>
            </a:extLst>
          </p:cNvPr>
          <p:cNvSpPr txBox="1"/>
          <p:nvPr/>
        </p:nvSpPr>
        <p:spPr>
          <a:xfrm>
            <a:off x="3346352" y="869027"/>
            <a:ext cx="2451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2FF"/>
                </a:solidFill>
              </a:defRPr>
            </a:pPr>
            <a:r>
              <a:rPr lang="en-IN" dirty="0"/>
              <a:t>2026 Outlook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D1D91-ADEB-48AE-38C1-2BE8DC8B0ABB}"/>
              </a:ext>
            </a:extLst>
          </p:cNvPr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F7F7F"/>
                </a:solidFill>
              </a:defRPr>
            </a:pPr>
            <a:r>
              <a:rPr dirty="0"/>
              <a:t>Prepared for: CEO &amp; Management Team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88270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Expected Outcomes (FY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If Recommendations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FY 2026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₹1.40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+25%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FY 2026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₹49 Lakhs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+59%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011680" cy="11887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From 28%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32279"/>
              </p:ext>
            </p:extLst>
          </p:nvPr>
        </p:nvGraphicFramePr>
        <p:xfrm>
          <a:off x="914400" y="347472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FY 2025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FY 2026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Change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₹1.11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₹1.40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Net Profit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₹30.9L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₹49.0L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+59%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NP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27.8%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+7.2%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OpEx Ratio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49.9%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43.0%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600"/>
                        <a:t>-6.9%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800"/>
                        <a:t>Loss Months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rPr sz="1800"/>
                        <a:t>3/12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rPr sz="1800"/>
                        <a:t>0/12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0B050"/>
                          </a:solidFill>
                        </a:defRPr>
                      </a:pPr>
                      <a:r>
                        <a:rPr sz="1800" dirty="0"/>
                        <a:t>100% improve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67A0-96DE-AE68-7F1C-ED7618069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4F6250-F628-1231-0ED4-BA442347DD39}"/>
              </a:ext>
            </a:extLst>
          </p:cNvPr>
          <p:cNvSpPr txBox="1"/>
          <p:nvPr/>
        </p:nvSpPr>
        <p:spPr>
          <a:xfrm>
            <a:off x="2888768" y="2857154"/>
            <a:ext cx="320023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2FF"/>
                </a:solidFill>
              </a:defRPr>
            </a:pPr>
            <a:r>
              <a:rPr lang="en-IN" sz="4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</a:rPr>
              <a:t>Thank You!</a:t>
            </a:r>
            <a:endParaRPr sz="44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3DF50-B555-7A55-6121-28BE8E2D910F}"/>
              </a:ext>
            </a:extLst>
          </p:cNvPr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F7F7F"/>
                </a:solidFill>
              </a:defRPr>
            </a:pPr>
            <a:r>
              <a:rPr dirty="0"/>
              <a:t>Prepared for: CEO &amp; Management Team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645258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1250</Words>
  <Application>Microsoft Office PowerPoint</Application>
  <PresentationFormat>On-screen Show (4:3)</PresentationFormat>
  <Paragraphs>342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 Kumar</cp:lastModifiedBy>
  <cp:revision>11</cp:revision>
  <dcterms:created xsi:type="dcterms:W3CDTF">2013-01-27T09:14:16Z</dcterms:created>
  <dcterms:modified xsi:type="dcterms:W3CDTF">2025-11-09T08:59:35Z</dcterms:modified>
  <cp:category/>
</cp:coreProperties>
</file>