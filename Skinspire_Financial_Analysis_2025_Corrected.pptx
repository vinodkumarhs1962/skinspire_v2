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6.2977999999999996</c:v>
                </c:pt>
                <c:pt idx="2">
                  <c:v>9.6258099999999995</c:v>
                </c:pt>
                <c:pt idx="3">
                  <c:v>7.8344800000000001</c:v>
                </c:pt>
                <c:pt idx="4">
                  <c:v>8.5520399999999999</c:v>
                </c:pt>
                <c:pt idx="5">
                  <c:v>9.65456</c:v>
                </c:pt>
                <c:pt idx="6">
                  <c:v>13.475440000000001</c:v>
                </c:pt>
                <c:pt idx="7">
                  <c:v>12.43094</c:v>
                </c:pt>
                <c:pt idx="8">
                  <c:v>7.9610500000000002</c:v>
                </c:pt>
                <c:pt idx="9">
                  <c:v>7.0144500000000001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A9-440E-AA6E-9938AC821A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5.6384699999999999</c:v>
                </c:pt>
                <c:pt idx="1">
                  <c:v>1.8970400000000001</c:v>
                </c:pt>
                <c:pt idx="2">
                  <c:v>4.2893299999999996</c:v>
                </c:pt>
                <c:pt idx="3">
                  <c:v>4.5716999999999999</c:v>
                </c:pt>
                <c:pt idx="4">
                  <c:v>3.9924599999999999</c:v>
                </c:pt>
                <c:pt idx="5">
                  <c:v>4.6246600000000004</c:v>
                </c:pt>
                <c:pt idx="6">
                  <c:v>10.774419999999999</c:v>
                </c:pt>
                <c:pt idx="7">
                  <c:v>7.5319099999999999</c:v>
                </c:pt>
                <c:pt idx="8">
                  <c:v>1.02905</c:v>
                </c:pt>
                <c:pt idx="9">
                  <c:v>2.76647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4CF-8339-0B22EF9A7F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-3.71319</c:v>
                </c:pt>
                <c:pt idx="2">
                  <c:v>3.1419999999999997E-2</c:v>
                </c:pt>
                <c:pt idx="3">
                  <c:v>0.20615</c:v>
                </c:pt>
                <c:pt idx="4">
                  <c:v>-0.59086000000000005</c:v>
                </c:pt>
                <c:pt idx="5">
                  <c:v>1.9583299999999999</c:v>
                </c:pt>
                <c:pt idx="6">
                  <c:v>8.3936600000000006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4C-44CF-8339-0B22EF9A7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-3.71319</c:v>
                </c:pt>
                <c:pt idx="2">
                  <c:v>3.1419999999999997E-2</c:v>
                </c:pt>
                <c:pt idx="3">
                  <c:v>0.20615</c:v>
                </c:pt>
                <c:pt idx="4">
                  <c:v>-0.59086000000000005</c:v>
                </c:pt>
                <c:pt idx="5">
                  <c:v>1.9583299999999999</c:v>
                </c:pt>
                <c:pt idx="6">
                  <c:v>8.3936600000000006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F-4208-AD94-2CF4126A4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49.231101686903202</c:v>
                </c:pt>
                <c:pt idx="1">
                  <c:v>69.877735082092158</c:v>
                </c:pt>
                <c:pt idx="2">
                  <c:v>55.439282512328838</c:v>
                </c:pt>
                <c:pt idx="3">
                  <c:v>41.646414312117713</c:v>
                </c:pt>
                <c:pt idx="4">
                  <c:v>53.315700113657094</c:v>
                </c:pt>
                <c:pt idx="5">
                  <c:v>52.098697403092423</c:v>
                </c:pt>
                <c:pt idx="6">
                  <c:v>20.044020826036107</c:v>
                </c:pt>
                <c:pt idx="7">
                  <c:v>39.409972214490615</c:v>
                </c:pt>
                <c:pt idx="8">
                  <c:v>87.073941251468085</c:v>
                </c:pt>
                <c:pt idx="9">
                  <c:v>60.560414572774768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F-4CAE-AC8B-F6ED47BC8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8246C-2495-7DC8-0088-47BA7F59961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SKINSPIRE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t>Financial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January -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t>Prepared for: CEO &amp; Management Team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10-Month Performance Overview (Jan-Oct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₹47.12L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₹16.63L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17.7%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137160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01168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OPERATING EXPENSE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₹46.84L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175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175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AVG MONTHLY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₹9.40L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017520"/>
            <a:ext cx="137160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GP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7947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050"/>
                </a:solidFill>
              </a:defRPr>
            </a:pPr>
            <a:r>
              <a:t>STRENGTHS:  • 50% Gross Profit Margin  • Positive Overall Cash Flow  • Diversified Revenue Streams</a:t>
            </a:r>
          </a:p>
          <a:p>
            <a:pPr>
              <a:spcAft>
                <a:spcPts val="800"/>
              </a:spcAft>
              <a:defRPr sz="1200" b="1">
                <a:solidFill>
                  <a:srgbClr val="C00000"/>
                </a:solidFill>
              </a:defRPr>
            </a:pPr>
            <a:r>
              <a:t>CONCERNS:  • High Revenue Volatility (114%)  • 3 Loss-Making Months  • September Expense Crisis (87% OpEx)</a:t>
            </a:r>
          </a:p>
          <a:p>
            <a:pPr>
              <a:spcAft>
                <a:spcPts val="800"/>
              </a:spcAft>
              <a:defRPr sz="1200" b="1">
                <a:solidFill>
                  <a:srgbClr val="0066CC"/>
                </a:solidFill>
              </a:defRPr>
            </a:pPr>
            <a:r>
              <a:t>PRIORITY:  • Stabilize Monthly Revenue  • Control Operating Expenses  • Improve Cash Flow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Breakdown (Jan-Oct 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NP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629,780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440,076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-371,319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-59.0%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783,448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326,278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20,615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-59,086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965,456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502,990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195,833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839,366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1,243,094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489,903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604,753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-5.1%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701,445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424,798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84,466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9,395,272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4,683,721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1,663,223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Performance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Gross Profit vs Net Profit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Net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Net Profit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Operating Expense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OpEx as % of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Target: &lt;45%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Cash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Bank vs Cash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BANK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₹71.48L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76.1%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CASH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₹22.47L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28600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CASH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7315200" cy="27432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KEY OBSERVATIONS:</a:t>
            </a:r>
          </a:p>
          <a:p>
            <a:pPr>
              <a:spcAft>
                <a:spcPts val="600"/>
              </a:spcAft>
              <a:defRPr sz="1200" b="0"/>
            </a:pPr>
            <a:endParaRPr/>
          </a:p>
          <a:p>
            <a:pPr>
              <a:spcAft>
                <a:spcPts val="600"/>
              </a:spcAft>
              <a:defRPr sz="1200" b="0"/>
            </a:pPr>
            <a:r>
              <a:t>• Cash flow positive in 7 out of 10 months (70% resilience)</a:t>
            </a:r>
          </a:p>
          <a:p>
            <a:pPr>
              <a:spcAft>
                <a:spcPts val="600"/>
              </a:spcAft>
              <a:defRPr sz="1200" b="0"/>
            </a:pPr>
            <a:r>
              <a:t>• Bank flow showed volatility with 4 negative months</a:t>
            </a:r>
          </a:p>
          <a:p>
            <a:pPr>
              <a:spcAft>
                <a:spcPts val="600"/>
              </a:spcAft>
              <a:defRPr sz="1200" b="0"/>
            </a:pPr>
            <a:r>
              <a:t>• September had the largest bank outflow (-₹3.4L)</a:t>
            </a:r>
          </a:p>
          <a:p>
            <a:pPr>
              <a:spcAft>
                <a:spcPts val="600"/>
              </a:spcAft>
              <a:defRPr sz="1200" b="0"/>
            </a:pPr>
            <a:r>
              <a:t>• Cash collections remained consistent throughout</a:t>
            </a:r>
          </a:p>
          <a:p>
            <a:pPr>
              <a:spcAft>
                <a:spcPts val="600"/>
              </a:spcAft>
              <a:defRPr sz="1200" b="0"/>
            </a:pPr>
            <a:endParaRPr/>
          </a:p>
          <a:p>
            <a:pPr>
              <a:spcAft>
                <a:spcPts val="600"/>
              </a:spcAft>
              <a:defRPr sz="1400" b="1"/>
            </a:pPr>
            <a:r>
              <a:t>RECOMMENDATIONS:</a:t>
            </a:r>
          </a:p>
          <a:p>
            <a:pPr>
              <a:spcAft>
                <a:spcPts val="600"/>
              </a:spcAft>
              <a:defRPr sz="1200" b="0"/>
            </a:pPr>
            <a:r>
              <a:t>• Maintain minimum ₹5L bank balance at all times</a:t>
            </a:r>
          </a:p>
          <a:p>
            <a:pPr>
              <a:spcAft>
                <a:spcPts val="600"/>
              </a:spcAft>
              <a:defRPr sz="1200" b="0"/>
            </a:pPr>
            <a:r>
              <a:t>• Implement 13-week rolling cash forecast</a:t>
            </a:r>
          </a:p>
          <a:p>
            <a:pPr>
              <a:spcAft>
                <a:spcPts val="600"/>
              </a:spcAft>
              <a:defRPr sz="1200" b="0"/>
            </a:pPr>
            <a:r>
              <a:t>• Improve collection efficiency and payment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Nov-Dec 2025 &amp; Full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₹1.11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Jan-Dec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₹23.25L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20.9%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371600" y="34747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1,750,000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875,000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321,000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341,000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662,000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Projected Full Year 2025 (Jan-Dec)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t>INCOME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Total Revenue          ₹     11,145,272   100.0%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t>COST OF OPERATIONS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Operating Expenses     ₹      5,558,721     49.9%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t>GROSS PROFIT             ₹      5,586,551     50.1%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t>OTHER EXPENSES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Capital Expenditure*   ₹      2,086,756     18.7%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Personal Expenses      ₹      1,136,574     10.2%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t>NET PROFIT               ₹      2,325,223     20.9%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    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t>  *Includes equipment, cash CapEx &amp; loan interest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As of October 31,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t>ASSETS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Current Assets: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Cash in Hand      ₹   2,247,189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Bank Balance      ₹     954,034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Inventory         ₹   1,000,000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Accounts Receivable₹     500,000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100" b="1">
                <a:latin typeface="Courier New"/>
              </a:defRPr>
            </a:pPr>
            <a:r>
              <a:t>Fixed Assets (Net)  ₹   8,086,756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t>TOTAL ASSETS        ₹  12,787,979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t>LIABILITIES &amp; EQUITY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Total Liabilities   ₹   3,300,000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Owner's Equity      ₹   9,487,979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t>TOTAL L &amp; E         ₹  12,787,979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t>KEY RATIOS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Current Ratio       2.62:1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t>Debt-to-Equity      0.42:1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Current Performance vs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OpEx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&lt;45%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7/10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914400" cy="10058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310896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Monthly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₹9.40L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₹10L+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Revenue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Operating Expense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Negative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t>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Top 3 Priorities Requiring Immediate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ISSUE #1: REVENUE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t>• 114% variance (₹6.3L to ₹13.5L)</a:t>
            </a:r>
            <a:br/>
            <a:r>
              <a:t>• Q3 decline: 25% drop from July peak</a:t>
            </a:r>
            <a:br/>
            <a:r>
              <a:t>• Unpredictable monthly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29967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t>ACTIONS:</a:t>
            </a:r>
            <a:br/>
            <a:r>
              <a:t>• Patient retention analysis</a:t>
            </a:r>
            <a:br/>
            <a:r>
              <a:t>• Launch marketing campaign</a:t>
            </a:r>
            <a:br/>
            <a:r>
              <a:t>• Analyze July success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ISSUE #2: SEPTEMBER EXPENSE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t>• Operating expenses: 87% of revenue</a:t>
            </a:r>
            <a:br/>
            <a:r>
              <a:t>• ₹6.93L OpEx on ₹7.96L revenue</a:t>
            </a:r>
            <a:br/>
            <a:r>
              <a:t>• Near-zero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93008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t>ACTIONS:</a:t>
            </a:r>
            <a:br/>
            <a:r>
              <a:t>• Immediate expense audit</a:t>
            </a:r>
            <a:br/>
            <a:r>
              <a:t>• Vendor contract renegotiation</a:t>
            </a:r>
            <a:br/>
            <a:r>
              <a:t>• Monthly expense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ISSUE #3: CASH FLOW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t>• Bank flow negative in 4/10 months</a:t>
            </a:r>
            <a:br/>
            <a:r>
              <a:t>• September: -₹3.4L bank outflow</a:t>
            </a:r>
            <a:br/>
            <a:r>
              <a:t>• Liquidity risk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56048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t>ACTIONS:</a:t>
            </a:r>
            <a:br/>
            <a:r>
              <a:t>• 13-week rolling cash forecast</a:t>
            </a:r>
            <a:br/>
            <a:r>
              <a:t>• Maintain ₹5L minimum balance</a:t>
            </a:r>
            <a:br/>
            <a:r>
              <a:t>• Improve collection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4 Pillars for Sustainable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1. REVENUE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t>Target: ₹10L+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t>• Patient acquisition programs</a:t>
            </a:r>
            <a:br/>
            <a:r>
              <a:t>• Digital marketing (₹30K/month)</a:t>
            </a:r>
            <a:br/>
            <a:r>
              <a:t>• Retention initiatives</a:t>
            </a:r>
            <a:br/>
            <a:r>
              <a:t>• Corporate partnerships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2. COST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t>Target: &lt;45% OpEx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t>• Vendor renegotiation</a:t>
            </a:r>
            <a:br/>
            <a:r>
              <a:t>• Zero-based budgeting</a:t>
            </a:r>
            <a:br/>
            <a:r>
              <a:t>• Staff optimization</a:t>
            </a:r>
            <a:br/>
            <a:r>
              <a:t>• Inventory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3. CASH FLOW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t>Target: Zero negative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t>• ₹5L minimum balance</a:t>
            </a:r>
            <a:br/>
            <a:r>
              <a:t>• 13-week cash forecast</a:t>
            </a:r>
            <a:br/>
            <a:r>
              <a:t>• Collection efficiency</a:t>
            </a:r>
            <a:br/>
            <a:r>
              <a:t>• Payment term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4. FINANCIAL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t>Target: Real-time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t>• Daily revenue tracking</a:t>
            </a:r>
            <a:br/>
            <a:r>
              <a:t>• Weekly expense review</a:t>
            </a:r>
            <a:br/>
            <a:r>
              <a:t>• Monthly business review</a:t>
            </a:r>
            <a:br/>
            <a:r>
              <a:t>• KPI scorecards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90-Day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Quarterly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t>MONTH 1: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Days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t>• Conduct September expense audit</a:t>
            </a:r>
            <a:br/>
            <a:r>
              <a:t>• Analyze July revenue drivers</a:t>
            </a:r>
            <a:br/>
            <a:r>
              <a:t>• Weekly cash flow reviews</a:t>
            </a:r>
            <a:br/>
            <a:r>
              <a:t>• Create expense budgets</a:t>
            </a:r>
            <a:br/>
            <a:r>
              <a:t>• Set up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MONTH 2: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Days 31-60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3774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t>• Launch retention program</a:t>
            </a:r>
            <a:br/>
            <a:r>
              <a:t>• Renegotiate vendor contracts</a:t>
            </a:r>
            <a:br/>
            <a:r>
              <a:t>• Digital payment incentives</a:t>
            </a:r>
            <a:br/>
            <a:r>
              <a:t>• Staff productivity review</a:t>
            </a:r>
            <a:br/>
            <a:r>
              <a:t>• Inventory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050"/>
                </a:solidFill>
              </a:defRPr>
            </a:pPr>
            <a:r>
              <a:t>MONTH 3: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Days 61-90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3774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t>• Digital marketing campaign</a:t>
            </a:r>
            <a:br/>
            <a:r>
              <a:t>• Quarterly business review</a:t>
            </a:r>
            <a:br/>
            <a:r>
              <a:t>• Set FY 2026 targets</a:t>
            </a:r>
            <a:br/>
            <a:r>
              <a:t>• Plan capacity expansion</a:t>
            </a:r>
            <a:br/>
            <a:r>
              <a:t>• Measure 90-day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Outcomes (FY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If Recommendations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+25%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₹49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+59%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From 28%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3474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FY 2025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FY 2026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₹1.11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₹1.40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₹30.9L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₹49.0L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t>+59%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NP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t>+7.2%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OpEx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Loss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t>100%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1104</Words>
  <Application>Microsoft Office PowerPoint</Application>
  <PresentationFormat>On-screen Show (4:3)</PresentationFormat>
  <Paragraphs>307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2</cp:revision>
  <dcterms:created xsi:type="dcterms:W3CDTF">2013-01-27T09:14:16Z</dcterms:created>
  <dcterms:modified xsi:type="dcterms:W3CDTF">2025-11-09T06:55:52Z</dcterms:modified>
  <cp:category/>
</cp:coreProperties>
</file>