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11.10615</c:v>
                </c:pt>
                <c:pt idx="1">
                  <c:v>6.2977999999999996</c:v>
                </c:pt>
                <c:pt idx="2">
                  <c:v>9.6258099999999995</c:v>
                </c:pt>
                <c:pt idx="3">
                  <c:v>7.8344800000000001</c:v>
                </c:pt>
                <c:pt idx="4">
                  <c:v>8.5520399999999999</c:v>
                </c:pt>
                <c:pt idx="5">
                  <c:v>9.65456</c:v>
                </c:pt>
                <c:pt idx="6">
                  <c:v>13.475440000000001</c:v>
                </c:pt>
                <c:pt idx="7">
                  <c:v>12.43094</c:v>
                </c:pt>
                <c:pt idx="8">
                  <c:v>7.9610500000000002</c:v>
                </c:pt>
                <c:pt idx="9">
                  <c:v>7.0144500000000001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94-4B8B-B261-1BA6BAC7EF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5.6384699999999999</c:v>
                </c:pt>
                <c:pt idx="1">
                  <c:v>1.8970400000000001</c:v>
                </c:pt>
                <c:pt idx="2">
                  <c:v>4.2893299999999996</c:v>
                </c:pt>
                <c:pt idx="3">
                  <c:v>4.5716999999999999</c:v>
                </c:pt>
                <c:pt idx="4">
                  <c:v>3.9924599999999999</c:v>
                </c:pt>
                <c:pt idx="5">
                  <c:v>4.6246600000000004</c:v>
                </c:pt>
                <c:pt idx="6">
                  <c:v>10.774419999999999</c:v>
                </c:pt>
                <c:pt idx="7">
                  <c:v>7.5319099999999999</c:v>
                </c:pt>
                <c:pt idx="8">
                  <c:v>1.02905</c:v>
                </c:pt>
                <c:pt idx="9">
                  <c:v>2.76647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2-401A-89FC-7BECE15A2D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(₹L)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-2.0131899999999998</c:v>
                </c:pt>
                <c:pt idx="2">
                  <c:v>2.5314199999999998</c:v>
                </c:pt>
                <c:pt idx="3">
                  <c:v>2.7061500000000001</c:v>
                </c:pt>
                <c:pt idx="4">
                  <c:v>-0.29086000000000001</c:v>
                </c:pt>
                <c:pt idx="5">
                  <c:v>1.9583299999999999</c:v>
                </c:pt>
                <c:pt idx="6">
                  <c:v>9.0836600000000001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12-401A-89FC-7BECE15A2D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Lakhs)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3.8590100000000001</c:v>
                </c:pt>
                <c:pt idx="1">
                  <c:v>-2.0131899999999998</c:v>
                </c:pt>
                <c:pt idx="2">
                  <c:v>2.5314199999999998</c:v>
                </c:pt>
                <c:pt idx="3">
                  <c:v>2.7061500000000001</c:v>
                </c:pt>
                <c:pt idx="4">
                  <c:v>-0.29086000000000001</c:v>
                </c:pt>
                <c:pt idx="5">
                  <c:v>1.9583299999999999</c:v>
                </c:pt>
                <c:pt idx="6">
                  <c:v>9.0836600000000001</c:v>
                </c:pt>
                <c:pt idx="7">
                  <c:v>6.0475300000000001</c:v>
                </c:pt>
                <c:pt idx="8">
                  <c:v>-0.40448000000000001</c:v>
                </c:pt>
                <c:pt idx="9">
                  <c:v>0.84465999999999997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26-400F-8482-1C663D502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 %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49.231101686903202</c:v>
                </c:pt>
                <c:pt idx="1">
                  <c:v>69.877735082092158</c:v>
                </c:pt>
                <c:pt idx="2">
                  <c:v>55.439282512328838</c:v>
                </c:pt>
                <c:pt idx="3">
                  <c:v>41.646414312117713</c:v>
                </c:pt>
                <c:pt idx="4">
                  <c:v>53.315700113657094</c:v>
                </c:pt>
                <c:pt idx="5">
                  <c:v>52.098697403092423</c:v>
                </c:pt>
                <c:pt idx="6">
                  <c:v>20.044020826036107</c:v>
                </c:pt>
                <c:pt idx="7">
                  <c:v>39.409972214490615</c:v>
                </c:pt>
                <c:pt idx="8">
                  <c:v>87.073941251468085</c:v>
                </c:pt>
                <c:pt idx="9">
                  <c:v>60.560414572774768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5A-4EB1-8EEF-DCFA2FDA65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F89D6-7B10-4856-A235-36AE78152710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86C9E-517C-420A-B074-BB9735EFDF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97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7FBD3-35FD-9A8B-06FC-84E93667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-1645858"/>
            <a:ext cx="9144000" cy="6465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2FF"/>
                </a:solidFill>
              </a:defRPr>
            </a:pPr>
            <a:r>
              <a:rPr dirty="0"/>
              <a:t>Financial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rPr dirty="0"/>
              <a:t>January -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F7F7F"/>
                </a:solidFill>
              </a:defRPr>
            </a:pPr>
            <a:r>
              <a:rPr dirty="0"/>
              <a:t>Prepared for: CEO &amp; Management Team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10-Month Performance Overview (Jan-Oct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₹47.12L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01168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₹24.32L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25.9%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137160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23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2011680" cy="109728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OPERATING EXPENSE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₹46.84L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017520"/>
            <a:ext cx="201168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017520"/>
            <a:ext cx="201168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108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AVG MONTHLY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₹9.40L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947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017520"/>
            <a:ext cx="1371600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GP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7947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Margin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822960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5720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B050"/>
                </a:solidFill>
              </a:defRPr>
            </a:pPr>
            <a:r>
              <a:t>STRENGTHS:  • 50% Gross Profit Margin  • Positive Overall Cash Flow  • Diversified Revenue Streams</a:t>
            </a:r>
          </a:p>
          <a:p>
            <a:pPr>
              <a:spcAft>
                <a:spcPts val="800"/>
              </a:spcAft>
              <a:defRPr sz="1200" b="1">
                <a:solidFill>
                  <a:srgbClr val="C00000"/>
                </a:solidFill>
              </a:defRPr>
            </a:pPr>
            <a:r>
              <a:t>CONCERNS:  • High Revenue Volatility (114%)  • 3 Loss-Making Months  • September Expense Crisis (87% OpEx)</a:t>
            </a:r>
          </a:p>
          <a:p>
            <a:pPr>
              <a:spcAft>
                <a:spcPts val="800"/>
              </a:spcAft>
              <a:defRPr sz="1200" b="1">
                <a:solidFill>
                  <a:srgbClr val="0066CC"/>
                </a:solidFill>
              </a:defRPr>
            </a:pPr>
            <a:r>
              <a:t>PRIORITY:  • Stabilize Monthly Revenue  • Control Operating Expenses  • Improve Cash Flow Visibility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B7412BCD-6B78-9391-1732-6B3B666E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D95525D7-9331-E483-87BE-54974111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90153AC-F8AB-1BD2-665D-3825E87E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Breakdown (Jan-Oct 2025)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39869"/>
              </p:ext>
            </p:extLst>
          </p:nvPr>
        </p:nvGraphicFramePr>
        <p:xfrm>
          <a:off x="731520" y="1645920"/>
          <a:ext cx="7680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OpEx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Net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NP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546,768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385,901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Feb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629,780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440,076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-201,319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533,648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253,142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Apr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783,448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326,278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270,615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34.5%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455,958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-29,086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-3.4%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Jun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965,456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502,990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195,833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20.3%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270,102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908,366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1,243,094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489,903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604,753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693,200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-40,448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rPr sz="1200"/>
                        <a:t>-5.1%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sz="1200"/>
                        <a:t>Oct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701,445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424,798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84,466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rPr sz="1200"/>
                        <a:t>12.0%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 sz="1600"/>
                        <a:t>TOTAL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9,395,272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4,683,721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/>
                        <a:t>2,432,223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600" dirty="0"/>
                        <a:t>25.9%</a:t>
                      </a:r>
                    </a:p>
                  </a:txBody>
                  <a:tcPr>
                    <a:solidFill>
                      <a:srgbClr val="E6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4D779100-7481-605C-E17A-2FE23E80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E9CAC-9A4D-03C7-CC41-93872424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Performance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18AACDD-9A9B-C8FA-8ADD-EF9990815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Gross Profit vs Net Profit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2B50499-7DF8-6B80-3538-B2DD1A1A5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Net Profit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Monthly Net Profit (Lakhs)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2FA6DFB-3B73-B25C-4E05-DCC2265B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Operating Expense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OpEx as % of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8288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Target: &lt;45%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9BDE8-DBAC-4BA4-283E-2A2E188D5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Cash Flow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Bank vs Cash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BANK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₹71.48L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76.1%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28600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CASH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₹22.47L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23.9%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28600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CASH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94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₹93.95L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060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91840"/>
            <a:ext cx="7315200" cy="27432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1022465" y="3429000"/>
            <a:ext cx="354953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rPr dirty="0"/>
              <a:t>KEY OBSERVATIONS:</a:t>
            </a:r>
            <a:endParaRPr lang="en-IN" dirty="0"/>
          </a:p>
          <a:p>
            <a:pPr>
              <a:spcAft>
                <a:spcPts val="600"/>
              </a:spcAft>
              <a:defRPr sz="1400" b="1"/>
            </a:pPr>
            <a:endParaRPr dirty="0"/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Cash flow positive in 7 out of 10 months (70% resilience)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Bank flow showed volatility with 4 negative months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September had the largest bank outflow (-₹3.4L)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Cash collections remained consistent throughout</a:t>
            </a:r>
          </a:p>
          <a:p>
            <a:pPr>
              <a:spcAft>
                <a:spcPts val="600"/>
              </a:spcAft>
              <a:defRPr sz="1200" b="0"/>
            </a:pP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D7C83A-7BD8-BA57-6236-9165CCD4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86BA14-5F9A-B2ED-70B3-D5EA62E1D975}"/>
              </a:ext>
            </a:extLst>
          </p:cNvPr>
          <p:cNvSpPr txBox="1"/>
          <p:nvPr/>
        </p:nvSpPr>
        <p:spPr>
          <a:xfrm>
            <a:off x="4511039" y="3163372"/>
            <a:ext cx="382662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endParaRPr dirty="0"/>
          </a:p>
          <a:p>
            <a:pPr>
              <a:spcAft>
                <a:spcPts val="600"/>
              </a:spcAft>
              <a:defRPr sz="1400" b="1"/>
            </a:pPr>
            <a:r>
              <a:rPr dirty="0"/>
              <a:t>RECOMMENDATIONS:</a:t>
            </a:r>
            <a:endParaRPr lang="en-IN" dirty="0"/>
          </a:p>
          <a:p>
            <a:pPr>
              <a:spcAft>
                <a:spcPts val="600"/>
              </a:spcAft>
              <a:defRPr sz="1400" b="1"/>
            </a:pPr>
            <a:endParaRPr dirty="0"/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Maintain minimum ₹5L bank balance at all times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Implement 13-week rolling cash forecast</a:t>
            </a:r>
          </a:p>
          <a:p>
            <a:pPr>
              <a:spcAft>
                <a:spcPts val="600"/>
              </a:spcAft>
              <a:defRPr sz="1200" b="0"/>
            </a:pPr>
            <a:r>
              <a:rPr dirty="0"/>
              <a:t>• Improve collection efficiency and payment terms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Nov-Dec 2025 &amp; Full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₹1.11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Jan-Dec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FULL YEAR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₹30.94L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27.8%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75%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73645"/>
              </p:ext>
            </p:extLst>
          </p:nvPr>
        </p:nvGraphicFramePr>
        <p:xfrm>
          <a:off x="1371600" y="3474720"/>
          <a:ext cx="6400800" cy="23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Nov-25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Dec-25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Total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800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1,750,000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800"/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425,000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rPr sz="1800"/>
                        <a:t>875,000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rPr sz="1800"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/>
                        <a:t>321,000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/>
                        <a:t>341,000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rPr sz="1800" dirty="0"/>
                        <a:t>662,000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BC49FCB2-86A4-3889-AB86-E532980E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Profit &amp; Loss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Projected Full Year 2025 (Jan-Dec)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2182" y="1508760"/>
            <a:ext cx="6710218" cy="4709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371600" y="1911927"/>
            <a:ext cx="5946372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INCOME        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Total Revenue          ₹     11,145,272   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sz="1600" dirty="0">
                <a:latin typeface="Consolas" panose="020B0609020204030204" pitchFamily="49" charset="0"/>
              </a:rPr>
              <a:t>100.0%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COST OF OPERATIONS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Operating Expenses     ₹      5,558,721     49.9%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GROSS PROFIT             ₹      5,586,551     50.1%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OTHER EXPENSES           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Capital Expenditure    ₹      1,317,756     11.8%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Personal Expenses      ₹      1,136,574     10.2%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Loan Interest          ₹        276,365      2.5%</a:t>
            </a:r>
          </a:p>
          <a:p>
            <a:pPr>
              <a:spcAft>
                <a:spcPts val="200"/>
              </a:spcAft>
              <a:defRPr sz="1100" b="0"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                         </a:t>
            </a:r>
          </a:p>
          <a:p>
            <a:pPr>
              <a:spcAft>
                <a:spcPts val="200"/>
              </a:spcAft>
              <a:defRPr sz="1400" b="1">
                <a:solidFill>
                  <a:srgbClr val="00B050"/>
                </a:solidFill>
                <a:latin typeface="Courier New"/>
              </a:defRPr>
            </a:pPr>
            <a:r>
              <a:rPr sz="1600" dirty="0">
                <a:latin typeface="Consolas" panose="020B0609020204030204" pitchFamily="49" charset="0"/>
              </a:rPr>
              <a:t>NET PROFIT               ₹      3,094,223     27.8%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939FA0-FCE7-7BE1-2361-9E864B8F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As of October 31,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64410" cy="2793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ASSETS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Current Assets: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Cash in Hand      ₹   2,247,189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Bank Balance      ₹     954,034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Inventory         ₹   1,000,000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Accounts Receivable₹    500,000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1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Fixed Assets (Net)  ₹   7,317,756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TOTAL ASSETS        ₹  12,018,979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4602542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LIABILITIES &amp; EQUITY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Total Liabilities   ₹   3,300,000         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Owner's Equity      ₹   8,718,979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TOTAL L &amp; E         ₹  12,018,979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endParaRPr lang="en-IN" sz="1200" dirty="0">
              <a:latin typeface="Consolas" panose="020B0609020204030204" pitchFamily="49" charset="0"/>
            </a:endParaRP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                    </a:t>
            </a:r>
          </a:p>
          <a:p>
            <a:pPr>
              <a:spcAft>
                <a:spcPts val="300"/>
              </a:spcAft>
              <a:defRPr sz="1300" b="1">
                <a:latin typeface="Courier New"/>
              </a:defRPr>
            </a:pPr>
            <a:r>
              <a:rPr sz="1400" dirty="0">
                <a:latin typeface="Consolas" panose="020B0609020204030204" pitchFamily="49" charset="0"/>
              </a:rPr>
              <a:t>KEY RATIOS          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Current Ratio       2.62:1</a:t>
            </a:r>
          </a:p>
          <a:p>
            <a:pPr>
              <a:spcAft>
                <a:spcPts val="300"/>
              </a:spcAft>
              <a:defRPr sz="1100" b="0">
                <a:latin typeface="Courier New"/>
              </a:defRPr>
            </a:pPr>
            <a:r>
              <a:rPr sz="1200" dirty="0">
                <a:latin typeface="Consolas" panose="020B0609020204030204" pitchFamily="49" charset="0"/>
              </a:rPr>
              <a:t>Debt-to-Equity      0.42:1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013931-A3B2-B000-AF7C-6FDEA2A2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Current Performance vs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&gt;25%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737360"/>
            <a:ext cx="1645920" cy="100584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OpEx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Target: &lt;45%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37360"/>
            <a:ext cx="1645920" cy="10058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Profitable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7/10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737360"/>
            <a:ext cx="914400" cy="10058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1031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B+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83844"/>
              </p:ext>
            </p:extLst>
          </p:nvPr>
        </p:nvGraphicFramePr>
        <p:xfrm>
          <a:off x="914400" y="310896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Current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Target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Monthly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₹9.40L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₹10L+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Close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Operating Expense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&lt;45%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Negative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00000"/>
                          </a:solidFill>
                        </a:defRPr>
                      </a:pPr>
                      <a:r>
                        <a:rPr sz="1600"/>
                        <a:t>Concern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B050"/>
                          </a:solidFill>
                        </a:defRPr>
                      </a:pPr>
                      <a:r>
                        <a:rPr sz="1600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E3F8FEE1-09F6-1ED3-D822-3430BC3A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Critical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Top 3 Priorities Requiring Immediate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35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rPr sz="1600"/>
              <a:t>ISSUE #1: REVENUE VOLATILITY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7"/>
            <a:ext cx="2580963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 dirty="0"/>
              <a:t>• 114% variance (₹6.3L to ₹13.5L)</a:t>
            </a:r>
            <a:br>
              <a:rPr sz="1200" dirty="0"/>
            </a:br>
            <a:r>
              <a:rPr sz="1200" dirty="0"/>
              <a:t>• Q3 decline: 25% drop from July peak</a:t>
            </a:r>
            <a:br>
              <a:rPr sz="1200" dirty="0"/>
            </a:br>
            <a:r>
              <a:rPr sz="1200" dirty="0"/>
              <a:t>• Unpredictable monthly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29967"/>
            <a:ext cx="2089290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Patient retention analysis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Launch marketing campaign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Analyze July success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4157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rPr sz="1600"/>
              <a:t>ISSUE #2: SEPTEMBER EXPENSE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2582823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/>
              <a:t>• Operating expenses: 87% of revenue</a:t>
            </a:r>
            <a:br>
              <a:rPr sz="1200"/>
            </a:br>
            <a:r>
              <a:rPr sz="1200"/>
              <a:t>• ₹6.93L OpEx on ₹7.96L revenue</a:t>
            </a:r>
            <a:br>
              <a:rPr sz="1200"/>
            </a:br>
            <a:r>
              <a:rPr sz="1200"/>
              <a:t>• Near-zero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93008"/>
            <a:ext cx="2226443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Immediate expense audit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Vendor contract renegotiation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Monthly expense budgets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8229600" cy="128016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0080" y="4709159"/>
            <a:ext cx="30374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rPr sz="1600"/>
              <a:t>ISSUE #3: CASH FLOW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2470805" cy="742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/>
            </a:pPr>
            <a:r>
              <a:rPr sz="1200"/>
              <a:t>• Bank flow negative in 4/10 months</a:t>
            </a:r>
            <a:br>
              <a:rPr sz="1200"/>
            </a:br>
            <a:r>
              <a:rPr sz="1200"/>
              <a:t>• September: -₹3.4L bank outflow</a:t>
            </a:r>
            <a:br>
              <a:rPr sz="1200"/>
            </a:br>
            <a:r>
              <a:rPr sz="1200"/>
              <a:t>• Liquidity risk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56048"/>
            <a:ext cx="2320187" cy="9639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00B050"/>
                </a:solidFill>
              </a:defRPr>
            </a:pP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ACTIONS: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13-week rolling cash forecast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Maintain ₹5L minimum balance</a:t>
            </a:r>
            <a:b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sz="1200">
                <a:solidFill>
                  <a:schemeClr val="tx1">
                    <a:lumMod val="50000"/>
                    <a:lumOff val="50000"/>
                  </a:schemeClr>
                </a:solidFill>
              </a:rPr>
              <a:t>• Improve collection efficiency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EE1645-8845-AA86-5EE5-88F613C77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4 Pillars for Sustainable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070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1. REVENUE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0751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</a:rPr>
              <a:t>Target: ₹10L+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629887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Patient acquisition programs</a:t>
            </a:r>
            <a:br>
              <a:rPr sz="1400"/>
            </a:br>
            <a:r>
              <a:rPr sz="1400"/>
              <a:t>• Digital marketing (₹30K/month)</a:t>
            </a:r>
            <a:br>
              <a:rPr sz="1400"/>
            </a:br>
            <a:r>
              <a:rPr sz="1400"/>
              <a:t>• Retention initiatives</a:t>
            </a:r>
            <a:br>
              <a:rPr sz="1400"/>
            </a:br>
            <a:r>
              <a:rPr sz="1400"/>
              <a:t>• Corporate partnerships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190667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2. COST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17629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&lt;45% OpEx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022605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Vendor renegotiation</a:t>
            </a:r>
            <a:br>
              <a:rPr sz="1400"/>
            </a:br>
            <a:r>
              <a:rPr sz="1400"/>
              <a:t>• Zero-based budgeting</a:t>
            </a:r>
            <a:br>
              <a:rPr sz="1400"/>
            </a:br>
            <a:r>
              <a:rPr sz="1400"/>
              <a:t>• Staff optimization</a:t>
            </a:r>
            <a:br>
              <a:rPr sz="1400"/>
            </a:br>
            <a:r>
              <a:rPr sz="1400"/>
              <a:t>• Inventory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4293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3. CASH FLOW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26585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Zero negative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2308517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₹5L minimum balance</a:t>
            </a:r>
            <a:br>
              <a:rPr sz="1400"/>
            </a:br>
            <a:r>
              <a:rPr sz="1400"/>
              <a:t>• 13-week cash forecast</a:t>
            </a:r>
            <a:br>
              <a:rPr sz="1400"/>
            </a:br>
            <a:r>
              <a:rPr sz="1400"/>
              <a:t>• Collection efficiency</a:t>
            </a:r>
            <a:br>
              <a:rPr sz="1400"/>
            </a:br>
            <a:r>
              <a:rPr sz="1400"/>
              <a:t>• Payment term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114800"/>
            <a:ext cx="3840480" cy="201168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19479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rPr sz="1400"/>
              <a:t>4. FINANCIAL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2666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rPr sz="1600">
                <a:solidFill>
                  <a:schemeClr val="accent3">
                    <a:lumMod val="75000"/>
                  </a:schemeClr>
                </a:solidFill>
              </a:rPr>
              <a:t>Target: Real-time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00600"/>
            <a:ext cx="2131289" cy="11900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/>
            </a:pPr>
            <a:r>
              <a:rPr sz="1400"/>
              <a:t>• Daily revenue tracking</a:t>
            </a:r>
            <a:br>
              <a:rPr sz="1400"/>
            </a:br>
            <a:r>
              <a:rPr sz="1400"/>
              <a:t>• Weekly expense review</a:t>
            </a:r>
            <a:br>
              <a:rPr sz="1400"/>
            </a:br>
            <a:r>
              <a:rPr sz="1400"/>
              <a:t>• Monthly business review</a:t>
            </a:r>
            <a:br>
              <a:rPr sz="1400"/>
            </a:br>
            <a:r>
              <a:rPr sz="1400"/>
              <a:t>• KPI scorecards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9617F3-4380-C7DA-9680-4C6C2932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90-Day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Quarterly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3740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00000"/>
                </a:solidFill>
              </a:defRPr>
            </a:pPr>
            <a:r>
              <a:rPr sz="1600"/>
              <a:t>MONTH 1: STABILIZATION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102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1-30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1" y="2651760"/>
            <a:ext cx="2525762" cy="2473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 dirty="0"/>
              <a:t>• Conduct September expense audit</a:t>
            </a:r>
            <a:br>
              <a:rPr sz="1600" dirty="0"/>
            </a:br>
            <a:r>
              <a:rPr sz="1600" dirty="0"/>
              <a:t>• Analyze July revenue drivers</a:t>
            </a:r>
            <a:br>
              <a:rPr sz="1600" dirty="0"/>
            </a:br>
            <a:r>
              <a:rPr sz="1600" dirty="0"/>
              <a:t>• Weekly cash flow reviews</a:t>
            </a:r>
            <a:br>
              <a:rPr sz="1600" dirty="0"/>
            </a:br>
            <a:r>
              <a:rPr sz="1600" dirty="0"/>
              <a:t>• Create expense budgets</a:t>
            </a:r>
            <a:br>
              <a:rPr sz="1600" dirty="0"/>
            </a:br>
            <a:r>
              <a:rPr sz="1600" dirty="0"/>
              <a:t>• Set up KPI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3948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rPr sz="1600"/>
              <a:t>MONTH 2: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11144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31-60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1" y="2651760"/>
            <a:ext cx="2525762" cy="2128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 dirty="0"/>
              <a:t>• Launch retention program</a:t>
            </a:r>
            <a:br>
              <a:rPr sz="1600" dirty="0"/>
            </a:br>
            <a:r>
              <a:rPr sz="1600" dirty="0"/>
              <a:t>• Renegotiate vendor contracts</a:t>
            </a:r>
            <a:br>
              <a:rPr sz="1600" dirty="0"/>
            </a:br>
            <a:r>
              <a:rPr sz="1600" dirty="0"/>
              <a:t>• Digital payment incentives</a:t>
            </a:r>
            <a:br>
              <a:rPr sz="1600" dirty="0"/>
            </a:br>
            <a:r>
              <a:rPr sz="1600" dirty="0"/>
              <a:t>• Staff productivity review</a:t>
            </a:r>
            <a:br>
              <a:rPr sz="1600" dirty="0"/>
            </a:br>
            <a:r>
              <a:rPr sz="1600" dirty="0"/>
              <a:t>• Inventory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743200" cy="3840480"/>
          </a:xfrm>
          <a:prstGeom prst="rect">
            <a:avLst/>
          </a:prstGeom>
          <a:solidFill>
            <a:srgbClr val="E6F2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1921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050"/>
                </a:solidFill>
              </a:defRPr>
            </a:pPr>
            <a:r>
              <a:rPr sz="1600"/>
              <a:t>MONTH 3: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11144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600"/>
              <a:t>Days 61-90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594878" cy="17838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 sz="1000"/>
            </a:pPr>
            <a:r>
              <a:rPr sz="1600"/>
              <a:t>• Digital marketing campaign</a:t>
            </a:r>
            <a:br>
              <a:rPr sz="1600"/>
            </a:br>
            <a:r>
              <a:rPr sz="1600"/>
              <a:t>• Quarterly business review</a:t>
            </a:r>
            <a:br>
              <a:rPr sz="1600"/>
            </a:br>
            <a:r>
              <a:rPr sz="1600"/>
              <a:t>• Set FY 2026 targets</a:t>
            </a:r>
            <a:br>
              <a:rPr sz="1600"/>
            </a:br>
            <a:r>
              <a:rPr sz="1600"/>
              <a:t>• Plan capacity expansion</a:t>
            </a:r>
            <a:br>
              <a:rPr sz="1600"/>
            </a:br>
            <a:r>
              <a:rPr sz="1600"/>
              <a:t>• Measure 90-day results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747708-B5DC-5D25-CB90-C53B2421A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Expected Outcomes (FY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If Recommendations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1188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₹1.40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+25%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11887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FY 2026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₹49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+59%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011680" cy="1188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NET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From 28%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70294"/>
              </p:ext>
            </p:extLst>
          </p:nvPr>
        </p:nvGraphicFramePr>
        <p:xfrm>
          <a:off x="914400" y="347472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Metric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2025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FY 2026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Change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₹1.11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₹1.40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₹30.9L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₹49.0L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NP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27.8%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/>
                        <a:t>+7.2%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OpEx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-6.9%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Loss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3/12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sz="1600"/>
                        <a:t>0/12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B050"/>
                          </a:solidFill>
                        </a:defRPr>
                      </a:pPr>
                      <a:r>
                        <a:rPr sz="1600" dirty="0"/>
                        <a:t>100%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CACF0AB-04E8-CBDF-E434-32B89137F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8146856" y="10916"/>
            <a:ext cx="997144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1096</Words>
  <Application>Microsoft Office PowerPoint</Application>
  <PresentationFormat>On-screen Show (4:3)</PresentationFormat>
  <Paragraphs>310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Kumar</cp:lastModifiedBy>
  <cp:revision>5</cp:revision>
  <dcterms:created xsi:type="dcterms:W3CDTF">2013-01-27T09:14:16Z</dcterms:created>
  <dcterms:modified xsi:type="dcterms:W3CDTF">2025-11-09T06:43:46Z</dcterms:modified>
  <cp:category/>
</cp:coreProperties>
</file>